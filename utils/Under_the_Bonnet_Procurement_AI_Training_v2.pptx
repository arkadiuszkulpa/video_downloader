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317"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EE94F2-CF27-3AF8-6D1A-883FA2DE0EFE}" v="326" dt="2026-10-26T13:46:21.2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3B720561-F951-4263-8D26-94A9D21DC406}" type="datetimeFigureOut">
              <a:t>10/26/2026</a:t>
            </a:fld>
            <a:endParaRPr lang="en-GB"/>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EF2B72E4-8012-4DFA-ADFC-65E07624CB79}" type="slidenum">
              <a:t>‹#›</a:t>
            </a:fld>
            <a:endParaRPr lang="en-GB"/>
          </a:p>
        </p:txBody>
      </p:sp>
    </p:spTree>
    <p:extLst>
      <p:ext uri="{BB962C8B-B14F-4D97-AF65-F5344CB8AC3E}">
        <p14:creationId xmlns:p14="http://schemas.microsoft.com/office/powerpoint/2010/main" val="3983854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the room in India and on Teams.
Don't announce the analogy yet. Say: today we're going to talk about cars.
Keep a straight face.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2 minutes.
- Who I am: AI/ML engineer, EQ Enterprise AI team (Data Office).
- How long I've been doing this: [X] years.
- Every day I run multiple agents doing autonomous work while I supervise. Like a dispatcher.
- Purpose today: not one tool. Understand what's under the bonnet so you get better results from any AI, anywhere.
- Real use cases: your colleagues (e.g. Vinay) do this better than me. I'll give you the understanding.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Deadpan. 'Before we get to AI, I need everyone to understand how cars work.'
This also makes sure nobody is lost on car concepts later. Not everyone drives, and not every vehicle type is familiar in every country.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simply: fuel burns, pushes pistons, turns wheels.
The key point: it's the same core technology in almost every car. Brands differ; the engine idea doesn't.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engine, different car: a hatchback, a van, a truck. The car decides where you can go, what you can carry, how safe it is.
An engine on its own takes you nowhere.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three parts: engine, car, driver.
A great driver in a bad car underperforms. A great car with no driver goes nowhere.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Drivers come out of different schools. Each school teaches its own style: some more cautious, some more confident.
Both schools train every kind of driver.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Moped rider: same short routes every day, cheap, very fast.
F1 racing driver: very fast and precise on a track they know well.
Long-haul lorry driver: plans the route, avoids traffic, slower and more expensive, handles the long complex journeys.
None is 'best'. Depends on the job.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tell a driver 'somewhere nice', you get the driver's idea of nice.
Give a full address and you get where you wanted to go.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 the dashboard, the notes you stuck on it, the parcel label. That's it.
If it isn't visible, the driver guesses.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maps, company reference sheets. Not memorised, but available in the car.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shift, head office tells the driver what their job is and the rules.
Same driver, different brief = different behaviour.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kit, a driver can only talk about delivering. With kit, they can actually do things: navigate, call, take payment, lift a pallet.
Plant the seed: not every driver knows how to operate every piece of kit (forklift, tail-lift). We'll come back to that.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fitting is standard, you don't need a custom car for every trailer.
Build the trailer once, use it on any car.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up: one dispatcher, many specialists.
The dispatcher doesn't drive. They decide who's best for each job.</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Let it land.
'Let's go through those slides again. But first, how did the engine get invented?'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90 seconds across this slide and the next.
- Play 15 to 20 seconds of the clip (starts at 1:21), then stop.
- Line: 'Older models worked like this. They looked at the last word, or the last few, and picked the next one. Following the trail one shell at a time, and anything further back faded.'
- Technically fair: the earliest models literally looked only at the last few words; later ones read word by word and lost the early words over long passages. The shell trail fits both.
Practical:
- If the video starts at 0:00 instead of 1:21, use the backup browser tab cued at 1:21: https://www.youtube.com/watch?v=akN6KwOaXU4&amp;t=81
- Needs internet. In Teams, share with 'Include sound' on or remote attendees won't hear it.
- If the embed shows a blank box, delete it and use Insert &gt; Video &gt; Online Video with the watch link above.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shells: 'In 2017 Google researchers published Attention Is All You Need. Instead of one shell at a time, the model looks at the whole beach at once.'
- Point at the example: 'The animal didn't cross the street because it was tired.' Attention connects 'it' to 'animal'. That's the model understanding context.
- SpongeBob for the laugh: 'Now it pays attention to everything at once.'
- Careful: SpongeBob looks like doing many tasks at once. Attention is weighing many words at once. Let the diagram do the explaining; SpongeBob is the joke.
- Link: that's why what you put in front of it changes the answer so much. Context is king.
- Every big AI product runs on this same engine idea.
GIF: pick a specific SpongeBob GIF from Tenor (not the search page) and insert as a picture into the small box; animated GIFs play in slideshow. Check EQ comms guidance on TV characters.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is the app you use to talk to AI.
M365 Copilot = company fleet car: built for Microsoft roads (your emails, files, Teams). Microsoft now offers drivers from both schools (GPT and Claude) in some features, depending on EQ's admin settings.
Claude Code = off-road expedition vehicle from the same school as its driver: surveys the terrain first, uses its kit freely, makes agentic decisions. One line only; this audience won't use it.
CAR AND DRIVER DON'T ALWAYS MATCH:
'Sometimes car and driver don't match. Put an HGV driver in a van with no tail-lift and his skills go unused. That's what I saw when Claude first arrived in preview inside other companies' apps: its agentic abilities weren't fully used. Or the car has kit the driver was never trained on, like a forklift. Same driver, different car, different results.'
(Keep this to own experience; don't name specific product limits, they change quickly.)
Tip: use the car that already sits on your data. Copilot in Excel for spreadsheets, Outlook/Teams Copilot for threads. Copy-paste loses context.
'Copilot is worse than ChatGPT' often compares cars, not drivers.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published model already has some habits drilled in, like reasoning step by step before answering.
Same model in a different app behaves differently, because the car is different.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trains Claude against a written set of principles: tends to be more careful and nuanced, strong on long documents and natural writing.
OpenAI's GPT: the all-rounder, quick, versatile, strong on voice and images.
Neither is best at everything. Latest releases came out days apart and each claims wins on different tasks.
Check current model names on the day.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Haiku / mini: classifying, extracting, high-volume repeat jobs. Cheap and fast.
Sonnet / standard GPT: fast and precise on well-understood tasks. The everyday default.
Opus / GPT Thinking-Pro: complex, multi-step, ambiguous work. Slower, more expensive.
Caveat: 'racing driver' is not 'best driver'. Sonnet is the all-rounder most people use daily.
Match the driver to the journey.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is directions. If the model has to guess, it gives you the average answer.
The full detail comes in the practical part later.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is king. Link back to attention: it weighs everything it can see, like 'it' and 'animal'.
The model has no idea about EQ, your supplier or your deadline unless it's in front of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 context someone prepared for the agent in advance, so you don't have to paste it every time.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starts with a system prompt: the job description you never see.
Researcher and Analyst in Copilot are mostly specialised instructions on the same engine, with some extra kit (web search, code execution).
Takes the mystery out of 'agents'.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Developers taught models to say 'call this function with these details' instead of only producing text. The app then runs the function and hands back the result.
That's the moment AI went from talking to acting.
Callback: not every driver can use every tool well. That's the car/driver mismatch from the harness slide.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 a box of tools with a standard fitting. E.g. a 'Workday' toolbox or a 'SharePoint' toolbox any agent can pick up.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level higher: an agent that calls other agents, each with their own tools.
This is how we build complex systems. Next: two examples we built.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it makes the rest of the analogy more credible.
The model doesn't learn from your chat. Memory features are the car handing it notes.
That's why you must give context every time.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Predicts the next word; doesn't look facts up.
Defences (detail later): give the source, ask it to cite, ask what it isn't sure about.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AI tools now let you (or the app) set reasoning effort: low, medium, high. Same for OpenAI and Anthropic models.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Perfect for repeat, simple jobs. Wasteful to send a lorry 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Superb when the track is well known: well-defined tasks the model has seen a lot of.</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long, complex, ambiguous journeys. Worth the time when the route is genuinely hard.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of least resistance. Fine on a route you know; misses hazards.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an Anthropic workshop: the default is often the best balance.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workshop point: high effort can be worse than medium. It's over-thorough: tries many things, finds problems that aren't the task, touches things it wasn't asked to.
Thoroughness becomes scope creep.
Takeaway: match effort to the journey, and say clearly what's out of scope.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into live demos. Point at the diagram: these are the same parts you just learned.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Pre-run output ready in a tab.
- Show one request where it applies the rules and routes or refuses (e.g. Poland gate or P-Card rules).
- Behind the scenes, 2 minutes: policies gathered, decision checks written down, knowledge files prepared, testing.
- Key line: the engine was the easy part. Writing the rulebook and the map was the work.
- Point back: brief (instructions) + map book (knowledge) + kit (tools).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Pre-generated in tabs.
- Same question in plain Copilot Chat, then in Researcher.
- Different behaviour comes from a different brief and kit, not a different brain.
- Optional: Model Council (GPT and Claude side by side), only if enabled in EQ's tenant (admin must allow Anthropic models; Frontier access). Agreement = more confidence; disagreement = check yourself.
- Researcher: outward-looking (supplier due diligence, market scans, news).
- Analyst: your own data (normalising bids, weighted scoring, spend breakdowns).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Pre-generated.
- Show the orchestrator routing to a specialist; map it onto the logistics-firm diagram.
- No M365 Copilot licence needed.
- Reads your own emails, files and Teams via Graph; sees only what you can (signs in as you, Entra ID).
- Procurement Contract Agent already plugged in.
- Coming: Workday, Azure DevOps, ServiceNow connections; handbooks and SOPs per business area.
- 'Ask EQ Anything' relaunch: 2 November to 11 December. You'll be early users.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from understanding to using. Should be around minute 30.</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 unstructured: flow of ideas, documents, emails.
Data = structured: files, tables, steps of a process.
Both roads merge into automation.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recent meme: asking ChatGPT voice to pretend to be a horse.
Misapplied AI, not stupid AI. Judging AI by party tricks is like judging Excel by its drawing skills.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models failed with total confidence.
Newer models, Anthropic's especially, more often flag uncertainty and add disclaimers.
They still hallucinate: keep checking. Ask any model to rate its confidence.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Vinay's vendor proposal. Outputs pre-run.
1. Question only: 'Which vendor should we pick?'
2. + proposals attached.
3. + weighted criteria, our constraints, output as a table.
Show side by side. Don't mark them; ask the room which is best and why.</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Ask it to interview you first: 'Before you answer, ask me the 5 questions you need answered.'
- New topic = new chat. Old context leaks.
- Show one example of the output you want.
- Ask for sources and for what it isn't sure about.
- Use voice to talk through a rough idea for 2 minutes, let AI organise it.
- First answer = draft. Two rounds of feedback beat one perfect prompt.
- Match effort to the journey.</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steps, decisions, outputs. Once the legs are visible, it's obvious which ones AI can take.
Smaller task = better result. Grow scope as you learn what it can do.</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to 4 minutes, Vinay presents.
If he isn't presenting: walk through his Excel files as a process map (inputs, steps, decisions, outputs).
Link back to ProcureAI: process map first, agent second.</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everything until you can trust it 9 times out of 10. Then automate.
The 1 in 10 is why a human still signs off.</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Give it files, not pasted text. Columns and headings keep their meaning.
- Name the columns and the rules: 'Price is ex-VAT, annual; lower is better.'
- Check one row by hand before trusting the whole table.
- Copilot in Excel for spreadsheets; Analyst for heavier analysis.
- Keep a shared note of prompts that work: step one of automation.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leg is trusted, it becomes a scheduled round. Start small: one leg, not the whole journey.</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image-based teaching. Car meaning first, then AI.</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vehicle first: public transport, shared, recorded.</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taxi is yours for the journey, but the company sets the rules.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chauffeur hired by the company, under contract. What happens in the car stays in the car.</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 control. But you're responsible for the estate and the garage.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choice of vehicle IS the security decision.
Removing PII doesn't make the bus safe: the conversation can be kept and used to train future models. A breach in principle.
Accidentally including PII in licensed M365 Copilot is contained within EQ's boundary and permissions.
For EQ business: never take the bus or a taxi. Use EQ's limo.
Check current vendor terms before the session.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bring the use cases and check whether it works.
Close: 'That's exactly what you do with AI every day, just at a bigger scale.' Ties back to 9 out of 10.</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requests for follow-up sessions.
Mention the Elissa relaunch dates again.</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4663440" y="365760"/>
            <a:ext cx="4114800" cy="420624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4663440" y="365760"/>
            <a:ext cx="4114800" cy="420624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V01</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Title: under the bonnet</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V01 (see Visual Prompts doc)</a:t>
            </a:r>
            <a:endParaRPr lang="en-US" sz="2800" dirty="0"/>
          </a:p>
        </p:txBody>
      </p:sp>
      <p:sp>
        <p:nvSpPr>
          <p:cNvPr id="5" name="Text 2"/>
          <p:cNvSpPr/>
          <p:nvPr/>
        </p:nvSpPr>
        <p:spPr>
          <a:xfrm>
            <a:off x="457200" y="1188720"/>
            <a:ext cx="40233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Under the Bonnet</a:t>
            </a:r>
            <a:endParaRPr lang="en-US" sz="4000" dirty="0"/>
          </a:p>
        </p:txBody>
      </p:sp>
      <p:sp>
        <p:nvSpPr>
          <p:cNvPr id="6" name="Text 3"/>
          <p:cNvSpPr/>
          <p:nvPr/>
        </p:nvSpPr>
        <p:spPr>
          <a:xfrm>
            <a:off x="457200" y="2331720"/>
            <a:ext cx="4023360" cy="822960"/>
          </a:xfrm>
          <a:prstGeom prst="rect">
            <a:avLst/>
          </a:prstGeom>
          <a:noFill/>
          <a:ln/>
        </p:spPr>
        <p:txBody>
          <a:bodyPr wrap="square" lIns="0" tIns="0" rIns="0" bIns="0" rtlCol="0" anchor="ctr"/>
          <a:lstStyle/>
          <a:p>
            <a:pPr marL="0" indent="0">
              <a:buNone/>
            </a:pPr>
            <a:r>
              <a:rPr lang="en-US" sz="1800" dirty="0">
                <a:solidFill>
                  <a:srgbClr val="F5B700"/>
                </a:solidFill>
                <a:latin typeface="Calibri" pitchFamily="34" charset="0"/>
                <a:ea typeface="Calibri" pitchFamily="34" charset="-122"/>
                <a:cs typeface="Calibri" pitchFamily="34" charset="-120"/>
              </a:rPr>
              <a:t>What you're really using when you use AI</a:t>
            </a:r>
            <a:endParaRPr lang="en-US" sz="1800" dirty="0"/>
          </a:p>
        </p:txBody>
      </p:sp>
      <p:sp>
        <p:nvSpPr>
          <p:cNvPr id="7" name="Text 4"/>
          <p:cNvSpPr/>
          <p:nvPr/>
        </p:nvSpPr>
        <p:spPr>
          <a:xfrm>
            <a:off x="457200" y="4114800"/>
            <a:ext cx="4023360" cy="365760"/>
          </a:xfrm>
          <a:prstGeom prst="rect">
            <a:avLst/>
          </a:prstGeom>
          <a:noFill/>
          <a:ln/>
        </p:spPr>
        <p:txBody>
          <a:bodyPr wrap="square" lIns="0" tIns="0" rIns="0" bIns="0" rtlCol="0" anchor="ctr"/>
          <a:lstStyle/>
          <a:p>
            <a:pPr marL="0" indent="0">
              <a:buNone/>
            </a:pPr>
            <a:r>
              <a:rPr lang="en-US" sz="1100" dirty="0">
                <a:solidFill>
                  <a:srgbClr val="8A8F98"/>
                </a:solidFill>
                <a:latin typeface="Calibri" pitchFamily="34" charset="0"/>
                <a:ea typeface="Calibri" pitchFamily="34" charset="-122"/>
                <a:cs typeface="Calibri" pitchFamily="34" charset="-120"/>
              </a:rPr>
              <a:t>Procurement AI Training  |  EQ Enterprise AI</a:t>
            </a:r>
            <a:endParaRPr lang="en-US" sz="11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a:t>
            </a:r>
            <a:endParaRPr lang="en-US" sz="900" dirty="0"/>
          </a:p>
        </p:txBody>
      </p:sp>
      <p:pic>
        <p:nvPicPr>
          <p:cNvPr id="10" name="Picture 9">
            <a:extLst>
              <a:ext uri="{FF2B5EF4-FFF2-40B4-BE49-F238E27FC236}">
                <a16:creationId xmlns:a16="http://schemas.microsoft.com/office/drawing/2014/main" id="{A4F9800C-9064-4A55-64B8-0497DA950D3A}"/>
              </a:ext>
            </a:extLst>
          </p:cNvPr>
          <p:cNvPicPr>
            <a:picLocks noChangeAspect="1"/>
          </p:cNvPicPr>
          <p:nvPr/>
        </p:nvPicPr>
        <p:blipFill>
          <a:blip r:embed="rId3"/>
          <a:srcRect l="22782" t="503" r="11908" b="-503"/>
          <a:stretch>
            <a:fillRect/>
          </a:stretch>
        </p:blipFill>
        <p:spPr>
          <a:xfrm>
            <a:off x="4667022" y="366889"/>
            <a:ext cx="4112626" cy="42051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V00</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dispatcher (intro)</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V00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About me</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Arek Kulpa, EQ Enterprise AI</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Building with AI for a number of years</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Running a small logistics firm of AI drivers every day</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a:t>
            </a:r>
            <a:endParaRPr lang="en-US" sz="900" dirty="0"/>
          </a:p>
        </p:txBody>
      </p:sp>
      <p:pic>
        <p:nvPicPr>
          <p:cNvPr id="2" name="Picture 1">
            <a:extLst>
              <a:ext uri="{FF2B5EF4-FFF2-40B4-BE49-F238E27FC236}">
                <a16:creationId xmlns:a16="http://schemas.microsoft.com/office/drawing/2014/main" id="{8286EFD1-1523-C81A-F99C-81D05E812049}"/>
              </a:ext>
            </a:extLst>
          </p:cNvPr>
          <p:cNvPicPr>
            <a:picLocks noChangeAspect="1"/>
          </p:cNvPicPr>
          <p:nvPr/>
        </p:nvPicPr>
        <p:blipFill>
          <a:blip r:embed="rId3"/>
          <a:srcRect l="12599" t="839" r="9194" b="-1007"/>
          <a:stretch>
            <a:fillRect/>
          </a:stretch>
        </p:blipFill>
        <p:spPr>
          <a:xfrm>
            <a:off x="3929380" y="366312"/>
            <a:ext cx="4864319" cy="42171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2262E"/>
        </a:solidFill>
        <a:effectLst/>
      </p:bgPr>
    </p:bg>
    <p:spTree>
      <p:nvGrpSpPr>
        <p:cNvPr id="1" name=""/>
        <p:cNvGrpSpPr/>
        <p:nvPr/>
      </p:nvGrpSpPr>
      <p:grpSpPr>
        <a:xfrm>
          <a:off x="0" y="0"/>
          <a:ext cx="0" cy="0"/>
          <a:chOff x="0" y="0"/>
          <a:chExt cx="0" cy="0"/>
        </a:xfrm>
      </p:grpSpPr>
      <p:sp>
        <p:nvSpPr>
          <p:cNvPr id="3" name="Text 0"/>
          <p:cNvSpPr/>
          <p:nvPr/>
        </p:nvSpPr>
        <p:spPr>
          <a:xfrm>
            <a:off x="640080" y="1463040"/>
            <a:ext cx="7863840" cy="1097280"/>
          </a:xfrm>
          <a:prstGeom prst="rect">
            <a:avLst/>
          </a:prstGeom>
          <a:noFill/>
          <a:ln/>
        </p:spPr>
        <p:txBody>
          <a:bodyPr wrap="square" lIns="0" tIns="0" rIns="0" bIns="0" rtlCol="0" anchor="ctr"/>
          <a:lstStyle/>
          <a:p>
            <a:pPr marL="0" indent="0">
              <a:buNone/>
            </a:pPr>
            <a:r>
              <a:rPr lang="en-US" sz="4000" b="1" dirty="0">
                <a:solidFill>
                  <a:srgbClr val="F5B700"/>
                </a:solidFill>
                <a:latin typeface="Trebuchet MS" pitchFamily="34" charset="0"/>
                <a:ea typeface="Trebuchet MS" pitchFamily="34" charset="-122"/>
                <a:cs typeface="Trebuchet MS" pitchFamily="34" charset="-120"/>
              </a:rPr>
              <a:t>Today's talk is about cars</a:t>
            </a:r>
            <a:endParaRPr lang="en-US" sz="4000" dirty="0"/>
          </a:p>
        </p:txBody>
      </p:sp>
      <p:sp>
        <p:nvSpPr>
          <p:cNvPr id="4" name="Text 1"/>
          <p:cNvSpPr/>
          <p:nvPr/>
        </p:nvSpPr>
        <p:spPr>
          <a:xfrm>
            <a:off x="640080" y="2606040"/>
            <a:ext cx="7863840" cy="64008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Bear with me.</a:t>
            </a:r>
            <a:endParaRPr lang="en-US" sz="2000" dirty="0"/>
          </a:p>
        </p:txBody>
      </p:sp>
      <p:sp>
        <p:nvSpPr>
          <p:cNvPr id="5" name="Shape 2"/>
          <p:cNvSpPr/>
          <p:nvPr/>
        </p:nvSpPr>
        <p:spPr>
          <a:xfrm>
            <a:off x="365760" y="4873752"/>
            <a:ext cx="8412480" cy="0"/>
          </a:xfrm>
          <a:prstGeom prst="line">
            <a:avLst/>
          </a:prstGeom>
          <a:noFill/>
          <a:ln w="25400">
            <a:solidFill>
              <a:srgbClr val="F5B700"/>
            </a:solidFill>
            <a:prstDash val="dash"/>
          </a:ln>
        </p:spPr>
      </p:sp>
      <p:sp>
        <p:nvSpPr>
          <p:cNvPr id="6" name="Text 3"/>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V02</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engine</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V02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engine</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One invention that makes everything move. Every car on the road runs on the same basic idea.</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a:t>
            </a:r>
            <a:endParaRPr lang="en-US" sz="900" dirty="0"/>
          </a:p>
        </p:txBody>
      </p:sp>
      <p:pic>
        <p:nvPicPr>
          <p:cNvPr id="2" name="Picture 1">
            <a:extLst>
              <a:ext uri="{FF2B5EF4-FFF2-40B4-BE49-F238E27FC236}">
                <a16:creationId xmlns:a16="http://schemas.microsoft.com/office/drawing/2014/main" id="{DF22CD0E-8034-D8CE-AA9C-67C71686C8DD}"/>
              </a:ext>
            </a:extLst>
          </p:cNvPr>
          <p:cNvPicPr>
            <a:picLocks noChangeAspect="1"/>
          </p:cNvPicPr>
          <p:nvPr/>
        </p:nvPicPr>
        <p:blipFill>
          <a:blip r:embed="rId3"/>
          <a:srcRect l="7709" t="-493" r="8989" b="493"/>
          <a:stretch>
            <a:fillRect/>
          </a:stretch>
        </p:blipFill>
        <p:spPr>
          <a:xfrm>
            <a:off x="366481" y="366889"/>
            <a:ext cx="5392513" cy="42968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V03</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car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V03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car</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The body around the engine: seats, steering, mirrors, boot. It decides what you can do with the engine.</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a:t>
            </a:r>
            <a:endParaRPr lang="en-US" sz="900" dirty="0"/>
          </a:p>
        </p:txBody>
      </p:sp>
      <p:pic>
        <p:nvPicPr>
          <p:cNvPr id="2" name="Picture 1">
            <a:extLst>
              <a:ext uri="{FF2B5EF4-FFF2-40B4-BE49-F238E27FC236}">
                <a16:creationId xmlns:a16="http://schemas.microsoft.com/office/drawing/2014/main" id="{186CFE45-D219-70E8-8FD1-72F792D2BC9C}"/>
              </a:ext>
            </a:extLst>
          </p:cNvPr>
          <p:cNvPicPr>
            <a:picLocks noChangeAspect="1"/>
          </p:cNvPicPr>
          <p:nvPr/>
        </p:nvPicPr>
        <p:blipFill>
          <a:blip r:embed="rId3"/>
          <a:srcRect l="880" r="13751"/>
          <a:stretch>
            <a:fillRect/>
          </a:stretch>
        </p:blipFill>
        <p:spPr>
          <a:xfrm>
            <a:off x="298097" y="366889"/>
            <a:ext cx="5478134" cy="42968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V04</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driver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V04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driver</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Engine, car, driver: three separate things.</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6</a:t>
            </a:r>
            <a:endParaRPr lang="en-US" sz="900" dirty="0"/>
          </a:p>
        </p:txBody>
      </p:sp>
      <p:pic>
        <p:nvPicPr>
          <p:cNvPr id="2" name="Picture 1">
            <a:extLst>
              <a:ext uri="{FF2B5EF4-FFF2-40B4-BE49-F238E27FC236}">
                <a16:creationId xmlns:a16="http://schemas.microsoft.com/office/drawing/2014/main" id="{84F6F4A4-6886-C449-EDC3-70B9FFA4B4F7}"/>
              </a:ext>
            </a:extLst>
          </p:cNvPr>
          <p:cNvPicPr>
            <a:picLocks noChangeAspect="1"/>
          </p:cNvPicPr>
          <p:nvPr/>
        </p:nvPicPr>
        <p:blipFill>
          <a:blip r:embed="rId3"/>
          <a:srcRect l="-33" r="16872"/>
          <a:stretch>
            <a:fillRect/>
          </a:stretch>
        </p:blipFill>
        <p:spPr>
          <a:xfrm>
            <a:off x="366481" y="366889"/>
            <a:ext cx="5395140" cy="42968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V05</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Driving schools</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V05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Driving schools</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Different schools, different habits.</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7</a:t>
            </a:r>
            <a:endParaRPr lang="en-US" sz="900" dirty="0"/>
          </a:p>
        </p:txBody>
      </p:sp>
      <p:pic>
        <p:nvPicPr>
          <p:cNvPr id="10" name="Picture 9">
            <a:extLst>
              <a:ext uri="{FF2B5EF4-FFF2-40B4-BE49-F238E27FC236}">
                <a16:creationId xmlns:a16="http://schemas.microsoft.com/office/drawing/2014/main" id="{9435B1B6-4D0A-6485-9631-DBF8C605EBF6}"/>
              </a:ext>
            </a:extLst>
          </p:cNvPr>
          <p:cNvPicPr>
            <a:picLocks noChangeAspect="1"/>
          </p:cNvPicPr>
          <p:nvPr/>
        </p:nvPicPr>
        <p:blipFill>
          <a:blip r:embed="rId3"/>
          <a:srcRect l="-129" t="9987" r="313" b="11945"/>
          <a:stretch>
            <a:fillRect/>
          </a:stretch>
        </p:blipFill>
        <p:spPr>
          <a:xfrm>
            <a:off x="280495" y="364659"/>
            <a:ext cx="5479087" cy="43078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V06</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Three kinds of driver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V06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Three kinds of driver</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Food delivery rider. Racing driver. Long-haul lorry driver.</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8</a:t>
            </a:r>
            <a:endParaRPr lang="en-US" sz="900" dirty="0"/>
          </a:p>
        </p:txBody>
      </p:sp>
      <p:pic>
        <p:nvPicPr>
          <p:cNvPr id="2" name="Picture 1">
            <a:extLst>
              <a:ext uri="{FF2B5EF4-FFF2-40B4-BE49-F238E27FC236}">
                <a16:creationId xmlns:a16="http://schemas.microsoft.com/office/drawing/2014/main" id="{FB17B682-53F4-3685-13A1-FB256A095D6C}"/>
              </a:ext>
            </a:extLst>
          </p:cNvPr>
          <p:cNvPicPr>
            <a:picLocks noChangeAspect="1"/>
          </p:cNvPicPr>
          <p:nvPr/>
        </p:nvPicPr>
        <p:blipFill>
          <a:blip r:embed="rId3"/>
          <a:srcRect l="-358" t="4291" r="554" b="11313"/>
          <a:stretch>
            <a:fillRect/>
          </a:stretch>
        </p:blipFill>
        <p:spPr>
          <a:xfrm>
            <a:off x="365162" y="84667"/>
            <a:ext cx="5393968" cy="45790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V07</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Directions</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V07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Directions</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"Somewhere nice" versus a full postcode.</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9</a:t>
            </a:r>
            <a:endParaRPr lang="en-US" sz="900" dirty="0"/>
          </a:p>
        </p:txBody>
      </p:sp>
      <p:pic>
        <p:nvPicPr>
          <p:cNvPr id="2" name="Picture 1">
            <a:extLst>
              <a:ext uri="{FF2B5EF4-FFF2-40B4-BE49-F238E27FC236}">
                <a16:creationId xmlns:a16="http://schemas.microsoft.com/office/drawing/2014/main" id="{F549B342-35C3-6342-A7F7-94DF65758971}"/>
              </a:ext>
            </a:extLst>
          </p:cNvPr>
          <p:cNvPicPr>
            <a:picLocks noChangeAspect="1"/>
          </p:cNvPicPr>
          <p:nvPr/>
        </p:nvPicPr>
        <p:blipFill>
          <a:blip r:embed="rId3"/>
          <a:srcRect l="-505" t="-756" r="379" b="20074"/>
          <a:stretch>
            <a:fillRect/>
          </a:stretch>
        </p:blipFill>
        <p:spPr>
          <a:xfrm>
            <a:off x="273440" y="151532"/>
            <a:ext cx="5594799" cy="45203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V08</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What the driver can see</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V08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What the driver can see</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Only what's in front of them right now. Everything else is fog.</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10</a:t>
            </a:r>
            <a:endParaRPr lang="en-US" sz="900" dirty="0"/>
          </a:p>
        </p:txBody>
      </p:sp>
      <p:pic>
        <p:nvPicPr>
          <p:cNvPr id="2" name="Picture 1">
            <a:extLst>
              <a:ext uri="{FF2B5EF4-FFF2-40B4-BE49-F238E27FC236}">
                <a16:creationId xmlns:a16="http://schemas.microsoft.com/office/drawing/2014/main" id="{7980E9EA-E624-154E-48F9-1F02DA492A10}"/>
              </a:ext>
            </a:extLst>
          </p:cNvPr>
          <p:cNvPicPr>
            <a:picLocks noChangeAspect="1"/>
          </p:cNvPicPr>
          <p:nvPr/>
        </p:nvPicPr>
        <p:blipFill>
          <a:blip r:embed="rId3"/>
          <a:srcRect l="785" t="10354" r="-785" b="9830"/>
          <a:stretch>
            <a:fillRect/>
          </a:stretch>
        </p:blipFill>
        <p:spPr>
          <a:xfrm>
            <a:off x="365162" y="366889"/>
            <a:ext cx="5390423" cy="43024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V09</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Map book in the glovebox</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V09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map book in the glovebox</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Reference material the driver can look up when needed.</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11</a:t>
            </a:r>
            <a:endParaRPr lang="en-US" sz="900" dirty="0"/>
          </a:p>
        </p:txBody>
      </p:sp>
      <p:pic>
        <p:nvPicPr>
          <p:cNvPr id="2" name="Picture 1">
            <a:extLst>
              <a:ext uri="{FF2B5EF4-FFF2-40B4-BE49-F238E27FC236}">
                <a16:creationId xmlns:a16="http://schemas.microsoft.com/office/drawing/2014/main" id="{90353D37-37CB-76EE-028A-9B7865C1ADF2}"/>
              </a:ext>
            </a:extLst>
          </p:cNvPr>
          <p:cNvPicPr>
            <a:picLocks noChangeAspect="1"/>
          </p:cNvPicPr>
          <p:nvPr/>
        </p:nvPicPr>
        <p:blipFill>
          <a:blip r:embed="rId3"/>
          <a:srcRect b="20931"/>
          <a:stretch>
            <a:fillRect/>
          </a:stretch>
        </p:blipFill>
        <p:spPr>
          <a:xfrm>
            <a:off x="271639" y="218722"/>
            <a:ext cx="5602116" cy="445183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V10</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Job brief from head office</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V10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job brief from head office</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"Only deliver parcels. Always get a signature."</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12</a:t>
            </a:r>
            <a:endParaRPr lang="en-US" sz="900" dirty="0"/>
          </a:p>
        </p:txBody>
      </p:sp>
      <p:pic>
        <p:nvPicPr>
          <p:cNvPr id="2" name="Picture 1">
            <a:extLst>
              <a:ext uri="{FF2B5EF4-FFF2-40B4-BE49-F238E27FC236}">
                <a16:creationId xmlns:a16="http://schemas.microsoft.com/office/drawing/2014/main" id="{0E2CB8DE-3BBF-978C-5625-1C856ADFF8DF}"/>
              </a:ext>
            </a:extLst>
          </p:cNvPr>
          <p:cNvPicPr>
            <a:picLocks noChangeAspect="1"/>
          </p:cNvPicPr>
          <p:nvPr/>
        </p:nvPicPr>
        <p:blipFill>
          <a:blip r:embed="rId3"/>
          <a:srcRect l="33" t="7044" b="9298"/>
          <a:stretch>
            <a:fillRect/>
          </a:stretch>
        </p:blipFill>
        <p:spPr>
          <a:xfrm>
            <a:off x="365162" y="362320"/>
            <a:ext cx="5494480" cy="43029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V11</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driver's kit</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V11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kit</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Satnav, phone, card reader, scanner, tail-lift, forklift.</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13</a:t>
            </a:r>
            <a:endParaRPr lang="en-US" sz="900" dirty="0"/>
          </a:p>
        </p:txBody>
      </p:sp>
      <p:pic>
        <p:nvPicPr>
          <p:cNvPr id="2" name="Picture 1">
            <a:extLst>
              <a:ext uri="{FF2B5EF4-FFF2-40B4-BE49-F238E27FC236}">
                <a16:creationId xmlns:a16="http://schemas.microsoft.com/office/drawing/2014/main" id="{7E9C0962-0207-25BD-D690-5EE2537C01FF}"/>
              </a:ext>
            </a:extLst>
          </p:cNvPr>
          <p:cNvPicPr>
            <a:picLocks noChangeAspect="1"/>
          </p:cNvPicPr>
          <p:nvPr/>
        </p:nvPicPr>
        <p:blipFill>
          <a:blip r:embed="rId3"/>
          <a:srcRect l="33" r="65" b="20576"/>
          <a:stretch>
            <a:fillRect/>
          </a:stretch>
        </p:blipFill>
        <p:spPr>
          <a:xfrm>
            <a:off x="365162" y="366889"/>
            <a:ext cx="5392210" cy="430370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V12</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Standard tow bar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V12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standard tow bar</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One standard fitting. Any compatible trailer clips on.</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14</a:t>
            </a:r>
            <a:endParaRPr lang="en-US" sz="900" dirty="0"/>
          </a:p>
        </p:txBody>
      </p:sp>
      <p:pic>
        <p:nvPicPr>
          <p:cNvPr id="2" name="Picture 1">
            <a:extLst>
              <a:ext uri="{FF2B5EF4-FFF2-40B4-BE49-F238E27FC236}">
                <a16:creationId xmlns:a16="http://schemas.microsoft.com/office/drawing/2014/main" id="{3577DC8C-9F73-3921-1662-BB49A972E01A}"/>
              </a:ext>
            </a:extLst>
          </p:cNvPr>
          <p:cNvPicPr>
            <a:picLocks noChangeAspect="1"/>
          </p:cNvPicPr>
          <p:nvPr/>
        </p:nvPicPr>
        <p:blipFill>
          <a:blip r:embed="rId3"/>
          <a:srcRect l="-358" t="4299" r="595" b="12133"/>
          <a:stretch>
            <a:fillRect/>
          </a:stretch>
        </p:blipFill>
        <p:spPr>
          <a:xfrm>
            <a:off x="365162" y="367585"/>
            <a:ext cx="5391779" cy="454599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V13</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logistics firm</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V13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logistics firm</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A dispatcher hands jobs to specialist drivers, each with their own vehicle and kit.</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15</a:t>
            </a:r>
            <a:endParaRPr lang="en-US" sz="900" dirty="0"/>
          </a:p>
        </p:txBody>
      </p:sp>
      <p:pic>
        <p:nvPicPr>
          <p:cNvPr id="2" name="Picture 1">
            <a:extLst>
              <a:ext uri="{FF2B5EF4-FFF2-40B4-BE49-F238E27FC236}">
                <a16:creationId xmlns:a16="http://schemas.microsoft.com/office/drawing/2014/main" id="{3CAB03E8-3735-B3EA-5ED4-4E54486D7952}"/>
              </a:ext>
            </a:extLst>
          </p:cNvPr>
          <p:cNvPicPr>
            <a:picLocks noChangeAspect="1"/>
          </p:cNvPicPr>
          <p:nvPr/>
        </p:nvPicPr>
        <p:blipFill>
          <a:blip r:embed="rId3"/>
          <a:srcRect l="384" t="7398" r="-256" b="13648"/>
          <a:stretch>
            <a:fillRect/>
          </a:stretch>
        </p:blipFill>
        <p:spPr>
          <a:xfrm>
            <a:off x="363402" y="296333"/>
            <a:ext cx="5503352" cy="43674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2262E"/>
        </a:solidFill>
        <a:effectLst/>
      </p:bgPr>
    </p:bg>
    <p:spTree>
      <p:nvGrpSpPr>
        <p:cNvPr id="1" name=""/>
        <p:cNvGrpSpPr/>
        <p:nvPr/>
      </p:nvGrpSpPr>
      <p:grpSpPr>
        <a:xfrm>
          <a:off x="0" y="0"/>
          <a:ext cx="0" cy="0"/>
          <a:chOff x="0" y="0"/>
          <a:chExt cx="0" cy="0"/>
        </a:xfrm>
      </p:grpSpPr>
      <p:sp>
        <p:nvSpPr>
          <p:cNvPr id="3" name="Text 0"/>
          <p:cNvSpPr/>
          <p:nvPr/>
        </p:nvSpPr>
        <p:spPr>
          <a:xfrm>
            <a:off x="640080" y="1463040"/>
            <a:ext cx="7863840" cy="1097280"/>
          </a:xfrm>
          <a:prstGeom prst="rect">
            <a:avLst/>
          </a:prstGeom>
          <a:noFill/>
          <a:ln/>
        </p:spPr>
        <p:txBody>
          <a:bodyPr wrap="square" lIns="0" tIns="0" rIns="0" bIns="0" rtlCol="0" anchor="ctr"/>
          <a:lstStyle/>
          <a:p>
            <a:pPr marL="0" indent="0">
              <a:buNone/>
            </a:pPr>
            <a:r>
              <a:rPr lang="en-US" sz="4000" b="1" dirty="0">
                <a:solidFill>
                  <a:srgbClr val="F5B700"/>
                </a:solidFill>
                <a:latin typeface="Trebuchet MS" pitchFamily="34" charset="0"/>
                <a:ea typeface="Trebuchet MS" pitchFamily="34" charset="-122"/>
                <a:cs typeface="Trebuchet MS" pitchFamily="34" charset="-120"/>
              </a:rPr>
              <a:t>Plot twist</a:t>
            </a:r>
            <a:endParaRPr lang="en-US" sz="4000" dirty="0"/>
          </a:p>
        </p:txBody>
      </p:sp>
      <p:sp>
        <p:nvSpPr>
          <p:cNvPr id="4" name="Text 1"/>
          <p:cNvSpPr/>
          <p:nvPr/>
        </p:nvSpPr>
        <p:spPr>
          <a:xfrm>
            <a:off x="640080" y="2606040"/>
            <a:ext cx="7863840" cy="64008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This was never a talk about cars.</a:t>
            </a:r>
            <a:endParaRPr lang="en-US" sz="2000" dirty="0"/>
          </a:p>
        </p:txBody>
      </p:sp>
      <p:sp>
        <p:nvSpPr>
          <p:cNvPr id="5" name="Shape 2"/>
          <p:cNvSpPr/>
          <p:nvPr/>
        </p:nvSpPr>
        <p:spPr>
          <a:xfrm>
            <a:off x="365760" y="4873752"/>
            <a:ext cx="8412480" cy="0"/>
          </a:xfrm>
          <a:prstGeom prst="line">
            <a:avLst/>
          </a:prstGeom>
          <a:noFill/>
          <a:ln w="25400">
            <a:solidFill>
              <a:srgbClr val="F5B700"/>
            </a:solidFill>
            <a:prstDash val="dash"/>
          </a:ln>
        </p:spPr>
      </p:sp>
      <p:sp>
        <p:nvSpPr>
          <p:cNvPr id="6" name="Text 3"/>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2262E"/>
        </a:solidFill>
        <a:effectLst/>
      </p:bgPr>
    </p:bg>
    <p:spTree>
      <p:nvGrpSpPr>
        <p:cNvPr id="1" name=""/>
        <p:cNvGrpSpPr/>
        <p:nvPr/>
      </p:nvGrpSpPr>
      <p:grpSpPr>
        <a:xfrm>
          <a:off x="0" y="0"/>
          <a:ext cx="0" cy="0"/>
          <a:chOff x="0" y="0"/>
          <a:chExt cx="0" cy="0"/>
        </a:xfrm>
      </p:grpSpPr>
      <p:sp>
        <p:nvSpPr>
          <p:cNvPr id="3"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F5B700"/>
                </a:solidFill>
                <a:latin typeface="Trebuchet MS" pitchFamily="34" charset="0"/>
                <a:ea typeface="Trebuchet MS" pitchFamily="34" charset="-122"/>
                <a:cs typeface="Trebuchet MS" pitchFamily="34" charset="-120"/>
              </a:rPr>
              <a:t>Before: one shell at a time</a:t>
            </a:r>
            <a:endParaRPr lang="en-US" sz="2800" dirty="0"/>
          </a:p>
        </p:txBody>
      </p:sp>
      <p:sp>
        <p:nvSpPr>
          <p:cNvPr id="4" name="Text 1"/>
          <p:cNvSpPr/>
          <p:nvPr/>
        </p:nvSpPr>
        <p:spPr>
          <a:xfrm>
            <a:off x="457200" y="804672"/>
            <a:ext cx="8229600" cy="36576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How AI predicted the next word before 2017</a:t>
            </a:r>
            <a:endParaRPr lang="en-US" sz="1500" dirty="0"/>
          </a:p>
        </p:txBody>
      </p:sp>
      <p:sp>
        <p:nvSpPr>
          <p:cNvPr id="5" name="Shape 2"/>
          <p:cNvSpPr/>
          <p:nvPr/>
        </p:nvSpPr>
        <p:spPr>
          <a:xfrm>
            <a:off x="1828800" y="1325880"/>
            <a:ext cx="5486400" cy="3086100"/>
          </a:xfrm>
          <a:prstGeom prst="rect">
            <a:avLst/>
          </a:prstGeom>
          <a:solidFill>
            <a:srgbClr val="2F343E"/>
          </a:solidFill>
          <a:ln w="12700">
            <a:solidFill>
              <a:srgbClr val="5A606B"/>
            </a:solidFill>
            <a:prstDash val="solid"/>
          </a:ln>
        </p:spPr>
      </p:sp>
      <p:sp>
        <p:nvSpPr>
          <p:cNvPr id="6" name="Text 3"/>
          <p:cNvSpPr/>
          <p:nvPr/>
        </p:nvSpPr>
        <p:spPr>
          <a:xfrm>
            <a:off x="1828800" y="1325880"/>
            <a:ext cx="5486400" cy="3086100"/>
          </a:xfrm>
          <a:prstGeom prst="rect">
            <a:avLst/>
          </a:prstGeom>
          <a:noFill/>
          <a:ln/>
        </p:spPr>
        <p:txBody>
          <a:bodyPr wrap="square" rtlCol="0" anchor="ctr"/>
          <a:lstStyle/>
          <a:p>
            <a:pPr marL="0" indent="0" algn="ctr">
              <a:buNone/>
            </a:pPr>
            <a:r>
              <a:rPr lang="en-US" sz="1100" dirty="0">
                <a:solidFill>
                  <a:srgbClr val="8A8F98"/>
                </a:solidFill>
                <a:latin typeface="Calibri" pitchFamily="34" charset="0"/>
                <a:ea typeface="Calibri" pitchFamily="34" charset="-122"/>
                <a:cs typeface="Calibri" pitchFamily="34" charset="-120"/>
              </a:rPr>
              <a:t>Video: Moana, picking up shells (from 1:21)</a:t>
            </a:r>
            <a:endParaRPr lang="en-US" sz="1100" dirty="0"/>
          </a:p>
          <a:p>
            <a:pPr marL="0" indent="0" algn="ctr">
              <a:buNone/>
            </a:pPr>
            <a:r>
              <a:rPr lang="en-US" sz="1100" dirty="0">
                <a:solidFill>
                  <a:srgbClr val="8A8F98"/>
                </a:solidFill>
                <a:latin typeface="Calibri" pitchFamily="34" charset="0"/>
                <a:ea typeface="Calibri" pitchFamily="34" charset="-122"/>
                <a:cs typeface="Calibri" pitchFamily="34" charset="-120"/>
              </a:rPr>
              <a:t>If the embed doesn't load: Insert › Video › Online Video</a:t>
            </a:r>
            <a:endParaRPr lang="en-US" sz="1100" dirty="0"/>
          </a:p>
          <a:p>
            <a:pPr marL="0" indent="0" algn="ctr">
              <a:buNone/>
            </a:pPr>
            <a:r>
              <a:rPr lang="en-US" sz="1100" dirty="0">
                <a:solidFill>
                  <a:srgbClr val="8A8F98"/>
                </a:solidFill>
                <a:latin typeface="Calibri" pitchFamily="34" charset="0"/>
                <a:ea typeface="Calibri" pitchFamily="34" charset="-122"/>
                <a:cs typeface="Calibri" pitchFamily="34" charset="-120"/>
              </a:rPr>
              <a:t>https://www.youtube.com/watch?v=akN6KwOaXU4&amp;t=81</a:t>
            </a:r>
            <a:endParaRPr lang="en-US" sz="1100" dirty="0"/>
          </a:p>
        </p:txBody>
      </p:sp>
      <p:sp>
        <p:nvSpPr>
          <p:cNvPr id="8" name="Shape 4"/>
          <p:cNvSpPr/>
          <p:nvPr/>
        </p:nvSpPr>
        <p:spPr>
          <a:xfrm>
            <a:off x="365760" y="4873752"/>
            <a:ext cx="8412480" cy="0"/>
          </a:xfrm>
          <a:prstGeom prst="line">
            <a:avLst/>
          </a:prstGeom>
          <a:noFill/>
          <a:ln w="25400">
            <a:solidFill>
              <a:srgbClr val="F5B700"/>
            </a:solidFill>
            <a:prstDash val="dash"/>
          </a:ln>
        </p:spPr>
      </p:sp>
      <p:sp>
        <p:nvSpPr>
          <p:cNvPr id="9"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2262E"/>
        </a:solidFill>
        <a:effectLst/>
      </p:bgPr>
    </p:bg>
    <p:spTree>
      <p:nvGrpSpPr>
        <p:cNvPr id="1" name=""/>
        <p:cNvGrpSpPr/>
        <p:nvPr/>
      </p:nvGrpSpPr>
      <p:grpSpPr>
        <a:xfrm>
          <a:off x="0" y="0"/>
          <a:ext cx="0" cy="0"/>
          <a:chOff x="0" y="0"/>
          <a:chExt cx="0" cy="0"/>
        </a:xfrm>
      </p:grpSpPr>
      <p:pic>
        <p:nvPicPr>
          <p:cNvPr id="3" name="Image 0" descr="/mnt/user-data/uploads/image.png"/>
          <p:cNvPicPr>
            <a:picLocks noChangeAspect="1"/>
          </p:cNvPicPr>
          <p:nvPr/>
        </p:nvPicPr>
        <p:blipFill>
          <a:blip r:embed="rId3"/>
          <a:stretch>
            <a:fillRect/>
          </a:stretch>
        </p:blipFill>
        <p:spPr>
          <a:xfrm>
            <a:off x="365760" y="365760"/>
            <a:ext cx="3459115" cy="4343400"/>
          </a:xfrm>
          <a:prstGeom prst="rect">
            <a:avLst/>
          </a:prstGeom>
        </p:spPr>
      </p:pic>
      <p:sp>
        <p:nvSpPr>
          <p:cNvPr id="4" name="Text 0"/>
          <p:cNvSpPr/>
          <p:nvPr/>
        </p:nvSpPr>
        <p:spPr>
          <a:xfrm>
            <a:off x="4114800" y="502920"/>
            <a:ext cx="466344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The engine</a:t>
            </a:r>
            <a:endParaRPr lang="en-US" sz="1600" dirty="0"/>
          </a:p>
        </p:txBody>
      </p:sp>
      <p:sp>
        <p:nvSpPr>
          <p:cNvPr id="5" name="Text 1"/>
          <p:cNvSpPr/>
          <p:nvPr/>
        </p:nvSpPr>
        <p:spPr>
          <a:xfrm>
            <a:off x="4114800" y="914400"/>
            <a:ext cx="4663440" cy="73152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The transformer</a:t>
            </a:r>
            <a:endParaRPr lang="en-US" sz="2800" dirty="0"/>
          </a:p>
        </p:txBody>
      </p:sp>
      <p:sp>
        <p:nvSpPr>
          <p:cNvPr id="6" name="Text 2"/>
          <p:cNvSpPr/>
          <p:nvPr/>
        </p:nvSpPr>
        <p:spPr>
          <a:xfrm>
            <a:off x="4114800" y="1737360"/>
            <a:ext cx="274320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2017: Attention Is All You Need (Google)</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Looks at every word at once</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Learns which words matter to each other</a:t>
            </a:r>
            <a:endParaRPr lang="en-US" sz="1500" dirty="0"/>
          </a:p>
        </p:txBody>
      </p:sp>
      <p:sp>
        <p:nvSpPr>
          <p:cNvPr id="7" name="Shape 3"/>
          <p:cNvSpPr/>
          <p:nvPr/>
        </p:nvSpPr>
        <p:spPr>
          <a:xfrm>
            <a:off x="7040880" y="2651760"/>
            <a:ext cx="1737360" cy="1737360"/>
          </a:xfrm>
          <a:prstGeom prst="rect">
            <a:avLst/>
          </a:prstGeom>
          <a:solidFill>
            <a:srgbClr val="2F343E"/>
          </a:solidFill>
          <a:ln w="15875">
            <a:solidFill>
              <a:srgbClr val="5A606B"/>
            </a:solidFill>
            <a:prstDash val="dash"/>
          </a:ln>
        </p:spPr>
        <p:txBody>
          <a:bodyPr/>
          <a:lstStyle/>
          <a:p>
            <a:endParaRPr lang="en-GB"/>
          </a:p>
        </p:txBody>
      </p:sp>
      <p:sp>
        <p:nvSpPr>
          <p:cNvPr id="8" name="Text 4"/>
          <p:cNvSpPr/>
          <p:nvPr/>
        </p:nvSpPr>
        <p:spPr>
          <a:xfrm>
            <a:off x="7040880" y="2651760"/>
            <a:ext cx="1737360" cy="1737360"/>
          </a:xfrm>
          <a:prstGeom prst="rect">
            <a:avLst/>
          </a:prstGeom>
          <a:noFill/>
          <a:ln/>
        </p:spPr>
        <p:txBody>
          <a:bodyPr wrap="square" rtlCol="0" anchor="ctr"/>
          <a:lstStyle/>
          <a:p>
            <a:pPr marL="0" indent="0" algn="ctr">
              <a:buNone/>
            </a:pPr>
            <a:r>
              <a:rPr lang="en-US" sz="1600" b="1" dirty="0">
                <a:solidFill>
                  <a:srgbClr val="F5B700"/>
                </a:solidFill>
                <a:latin typeface="Trebuchet MS" pitchFamily="34" charset="0"/>
                <a:ea typeface="Trebuchet MS" pitchFamily="34" charset="-122"/>
                <a:cs typeface="Trebuchet MS" pitchFamily="34" charset="-120"/>
              </a:rPr>
              <a:t>V36</a:t>
            </a:r>
            <a:endParaRPr lang="en-US" sz="1600" dirty="0"/>
          </a:p>
          <a:p>
            <a:pPr marL="0" indent="0" algn="ctr">
              <a:buNone/>
            </a:pPr>
            <a:r>
              <a:rPr lang="en-US" sz="1000" dirty="0">
                <a:solidFill>
                  <a:srgbClr val="C9CCD2"/>
                </a:solidFill>
                <a:latin typeface="Calibri" pitchFamily="34" charset="0"/>
                <a:ea typeface="Calibri" pitchFamily="34" charset="-122"/>
                <a:cs typeface="Calibri" pitchFamily="34" charset="-120"/>
              </a:rPr>
              <a:t>SpongeBob GIF</a:t>
            </a:r>
            <a:endParaRPr lang="en-US" sz="1600" dirty="0"/>
          </a:p>
          <a:p>
            <a:pPr marL="0" indent="0" algn="ctr">
              <a:buNone/>
            </a:pPr>
            <a:r>
              <a:rPr lang="en-US" sz="800" i="1" dirty="0">
                <a:solidFill>
                  <a:srgbClr val="8A8F98"/>
                </a:solidFill>
                <a:latin typeface="Calibri" pitchFamily="34" charset="0"/>
                <a:ea typeface="Calibri" pitchFamily="34" charset="-122"/>
                <a:cs typeface="Calibri" pitchFamily="34" charset="-120"/>
              </a:rPr>
              <a:t>insert here</a:t>
            </a:r>
            <a:endParaRPr lang="en-US" sz="1600" dirty="0"/>
          </a:p>
        </p:txBody>
      </p:sp>
      <p:sp>
        <p:nvSpPr>
          <p:cNvPr id="9"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10"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18</a:t>
            </a:r>
            <a:endParaRPr lang="en-US" sz="900" dirty="0"/>
          </a:p>
        </p:txBody>
      </p:sp>
      <p:pic>
        <p:nvPicPr>
          <p:cNvPr id="2" name="Picture 1" descr="A cartoon of a person with many hands holding food and a phone&#10;&#10;AI-generated content may be incorrect.">
            <a:extLst>
              <a:ext uri="{FF2B5EF4-FFF2-40B4-BE49-F238E27FC236}">
                <a16:creationId xmlns:a16="http://schemas.microsoft.com/office/drawing/2014/main" id="{446A4F53-FCB2-8E09-38C2-1BFB9DAC4DE4}"/>
              </a:ext>
            </a:extLst>
          </p:cNvPr>
          <p:cNvPicPr>
            <a:picLocks noChangeAspect="1"/>
          </p:cNvPicPr>
          <p:nvPr/>
        </p:nvPicPr>
        <p:blipFill>
          <a:blip r:embed="rId4"/>
          <a:stretch>
            <a:fillRect/>
          </a:stretch>
        </p:blipFill>
        <p:spPr>
          <a:xfrm>
            <a:off x="6861527" y="2532944"/>
            <a:ext cx="2010834" cy="19543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een lines with white text&#10;&#10;AI-generated content may be incorrect.">
            <a:extLst>
              <a:ext uri="{FF2B5EF4-FFF2-40B4-BE49-F238E27FC236}">
                <a16:creationId xmlns:a16="http://schemas.microsoft.com/office/drawing/2014/main" id="{70DF38E1-C70B-FA7F-57C8-D85DEDBDB312}"/>
              </a:ext>
            </a:extLst>
          </p:cNvPr>
          <p:cNvPicPr>
            <a:picLocks noChangeAspect="1"/>
          </p:cNvPicPr>
          <p:nvPr/>
        </p:nvPicPr>
        <p:blipFill>
          <a:blip r:embed="rId2"/>
          <a:stretch>
            <a:fillRect/>
          </a:stretch>
        </p:blipFill>
        <p:spPr>
          <a:xfrm>
            <a:off x="204787" y="261937"/>
            <a:ext cx="8734425" cy="4619625"/>
          </a:xfrm>
          <a:prstGeom prst="rect">
            <a:avLst/>
          </a:prstGeom>
        </p:spPr>
      </p:pic>
    </p:spTree>
    <p:extLst>
      <p:ext uri="{BB962C8B-B14F-4D97-AF65-F5344CB8AC3E}">
        <p14:creationId xmlns:p14="http://schemas.microsoft.com/office/powerpoint/2010/main" val="4031821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365760" y="457200"/>
            <a:ext cx="4023360" cy="411480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V03</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The car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V03 (see Visual Prompts doc)</a:t>
            </a:r>
            <a:endParaRPr lang="en-US" sz="2800" dirty="0"/>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The car</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The harness (the app)</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M365 Copilot, ChatGPT, Elissa, Claude Code</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Decides what the AI can see, use and remember</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Car and driver don't always match</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19</a:t>
            </a:r>
            <a:endParaRPr lang="en-US" sz="900" dirty="0"/>
          </a:p>
        </p:txBody>
      </p:sp>
      <p:pic>
        <p:nvPicPr>
          <p:cNvPr id="10" name="Picture 9" descr="A car with the door open&#10;&#10;AI-generated content may be incorrect.">
            <a:extLst>
              <a:ext uri="{FF2B5EF4-FFF2-40B4-BE49-F238E27FC236}">
                <a16:creationId xmlns:a16="http://schemas.microsoft.com/office/drawing/2014/main" id="{6CADF8AF-D275-4B6A-DCC8-0558BF9288E6}"/>
              </a:ext>
            </a:extLst>
          </p:cNvPr>
          <p:cNvPicPr>
            <a:picLocks noChangeAspect="1"/>
          </p:cNvPicPr>
          <p:nvPr/>
        </p:nvPicPr>
        <p:blipFill>
          <a:blip r:embed="rId3"/>
          <a:srcRect l="880" r="34889"/>
          <a:stretch>
            <a:fillRect/>
          </a:stretch>
        </p:blipFill>
        <p:spPr>
          <a:xfrm>
            <a:off x="255764" y="366889"/>
            <a:ext cx="4121701" cy="429683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365760" y="457200"/>
            <a:ext cx="4023360" cy="411480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V04</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The driver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V04 (see Visual Prompts doc)</a:t>
            </a:r>
            <a:endParaRPr lang="en-US" sz="2800" dirty="0"/>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The driver</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The model</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GPT, Claude, Gemini</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Arrives already trained, with habits built in</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e.g. thinking before answering (chain of thought)</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20</a:t>
            </a:r>
            <a:endParaRPr lang="en-US" sz="900" dirty="0"/>
          </a:p>
        </p:txBody>
      </p:sp>
      <p:pic>
        <p:nvPicPr>
          <p:cNvPr id="10" name="Picture 9" descr="Cartoon a person driving a car&#10;&#10;AI-generated content may be incorrect.">
            <a:extLst>
              <a:ext uri="{FF2B5EF4-FFF2-40B4-BE49-F238E27FC236}">
                <a16:creationId xmlns:a16="http://schemas.microsoft.com/office/drawing/2014/main" id="{09512464-E551-86FF-AEB6-4BF4CA5EF948}"/>
              </a:ext>
            </a:extLst>
          </p:cNvPr>
          <p:cNvPicPr>
            <a:picLocks noChangeAspect="1"/>
          </p:cNvPicPr>
          <p:nvPr/>
        </p:nvPicPr>
        <p:blipFill>
          <a:blip r:embed="rId3"/>
          <a:srcRect l="-109" r="38040"/>
          <a:stretch>
            <a:fillRect/>
          </a:stretch>
        </p:blipFill>
        <p:spPr>
          <a:xfrm>
            <a:off x="366481" y="366889"/>
            <a:ext cx="4026805" cy="429683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365760" y="457200"/>
            <a:ext cx="4023360" cy="411480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V05</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Driving schools</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V05 (see Visual Prompts doc)</a:t>
            </a:r>
            <a:endParaRPr lang="en-US" sz="2800" dirty="0"/>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Driving schools</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AI labs</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OpenAI, Anthropic, Google</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Different training, different habits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Every school trains every kind of driver</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21</a:t>
            </a:r>
            <a:endParaRPr lang="en-US" sz="900" dirty="0"/>
          </a:p>
        </p:txBody>
      </p:sp>
      <p:pic>
        <p:nvPicPr>
          <p:cNvPr id="10" name="Picture 9" descr="A person and person standing next to a car&#10;&#10;AI-generated content may be incorrect.">
            <a:extLst>
              <a:ext uri="{FF2B5EF4-FFF2-40B4-BE49-F238E27FC236}">
                <a16:creationId xmlns:a16="http://schemas.microsoft.com/office/drawing/2014/main" id="{730F3735-FAAF-9157-CB96-0B9CD8C634F2}"/>
              </a:ext>
            </a:extLst>
          </p:cNvPr>
          <p:cNvPicPr>
            <a:picLocks noChangeAspect="1"/>
          </p:cNvPicPr>
          <p:nvPr/>
        </p:nvPicPr>
        <p:blipFill>
          <a:blip r:embed="rId3"/>
          <a:srcRect l="952" t="3838" r="3651" b="830"/>
          <a:stretch>
            <a:fillRect/>
          </a:stretch>
        </p:blipFill>
        <p:spPr>
          <a:xfrm>
            <a:off x="259328" y="374600"/>
            <a:ext cx="4241407" cy="427689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365760" y="457200"/>
            <a:ext cx="4023360" cy="411480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V06</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Three kinds of driver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V06 (see Visual Prompts doc)</a:t>
            </a:r>
            <a:endParaRPr lang="en-US" sz="2800" dirty="0"/>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Three kinds of driver</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Model sizes</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Moped rider = Haiku / GPT mini class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Racing driver = Sonnet / standard GPT</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Long-haul = Opus / GPT Thinking &amp; Pro class</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22</a:t>
            </a:r>
            <a:endParaRPr lang="en-US" sz="900" dirty="0"/>
          </a:p>
        </p:txBody>
      </p:sp>
      <p:pic>
        <p:nvPicPr>
          <p:cNvPr id="10" name="Picture 9" descr="A group of people standing next to a truck&#10;&#10;AI-generated content may be incorrect.">
            <a:extLst>
              <a:ext uri="{FF2B5EF4-FFF2-40B4-BE49-F238E27FC236}">
                <a16:creationId xmlns:a16="http://schemas.microsoft.com/office/drawing/2014/main" id="{6EB2A473-A3F5-5762-3CB6-E3DB0F6D2CFF}"/>
              </a:ext>
            </a:extLst>
          </p:cNvPr>
          <p:cNvPicPr>
            <a:picLocks noChangeAspect="1"/>
          </p:cNvPicPr>
          <p:nvPr/>
        </p:nvPicPr>
        <p:blipFill>
          <a:blip r:embed="rId3"/>
          <a:srcRect l="9388" t="4334" r="6321" b="11229"/>
          <a:stretch>
            <a:fillRect/>
          </a:stretch>
        </p:blipFill>
        <p:spPr>
          <a:xfrm>
            <a:off x="216996" y="455792"/>
            <a:ext cx="4180110" cy="42071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365760" y="457200"/>
            <a:ext cx="4023360" cy="411480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V07</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Directions</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V07 (see Visual Prompts doc)</a:t>
            </a:r>
            <a:endParaRPr lang="en-US" sz="2800" dirty="0"/>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Directions</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The prompt</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Vague in, average out</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Say what, why, for whom, in what format</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23</a:t>
            </a:r>
            <a:endParaRPr lang="en-US" sz="900" dirty="0"/>
          </a:p>
        </p:txBody>
      </p:sp>
      <p:pic>
        <p:nvPicPr>
          <p:cNvPr id="10" name="Picture 9" descr="A cartoon of a person in a car&#10;&#10;AI-generated content may be incorrect.">
            <a:extLst>
              <a:ext uri="{FF2B5EF4-FFF2-40B4-BE49-F238E27FC236}">
                <a16:creationId xmlns:a16="http://schemas.microsoft.com/office/drawing/2014/main" id="{7EBB3B45-D9E3-F199-7A2C-A4B9F63324DE}"/>
              </a:ext>
            </a:extLst>
          </p:cNvPr>
          <p:cNvPicPr>
            <a:picLocks noChangeAspect="1"/>
          </p:cNvPicPr>
          <p:nvPr/>
        </p:nvPicPr>
        <p:blipFill>
          <a:blip r:embed="rId3"/>
          <a:srcRect l="15139" t="1722" r="7327" b="17435"/>
          <a:stretch>
            <a:fillRect/>
          </a:stretch>
        </p:blipFill>
        <p:spPr>
          <a:xfrm>
            <a:off x="259329" y="356143"/>
            <a:ext cx="4119303" cy="431024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365760" y="457200"/>
            <a:ext cx="4023360" cy="411480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V08</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What the driver can see</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V08 (see Visual Prompts doc)</a:t>
            </a:r>
            <a:endParaRPr lang="en-US" sz="2800" dirty="0"/>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What the driver can see</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Context</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Everything in front of the model right now</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Your message, files, chat history</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Not in context = a guess</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24</a:t>
            </a:r>
            <a:endParaRPr lang="en-US" sz="900" dirty="0"/>
          </a:p>
        </p:txBody>
      </p:sp>
      <p:pic>
        <p:nvPicPr>
          <p:cNvPr id="10" name="Picture 9" descr="A person driving a car&#10;&#10;AI-generated content may be incorrect.">
            <a:extLst>
              <a:ext uri="{FF2B5EF4-FFF2-40B4-BE49-F238E27FC236}">
                <a16:creationId xmlns:a16="http://schemas.microsoft.com/office/drawing/2014/main" id="{12F6D108-E752-1EB0-3D5F-728B0852F705}"/>
              </a:ext>
            </a:extLst>
          </p:cNvPr>
          <p:cNvPicPr>
            <a:picLocks noChangeAspect="1"/>
          </p:cNvPicPr>
          <p:nvPr/>
        </p:nvPicPr>
        <p:blipFill>
          <a:blip r:embed="rId3"/>
          <a:srcRect l="10215" t="10439" r="10119" b="9214"/>
          <a:stretch>
            <a:fillRect/>
          </a:stretch>
        </p:blipFill>
        <p:spPr>
          <a:xfrm>
            <a:off x="301662" y="454033"/>
            <a:ext cx="4181907" cy="421034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365760" y="457200"/>
            <a:ext cx="4023360" cy="411480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V09</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Map book in the glovebox</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V09 (see Visual Prompts doc)</a:t>
            </a:r>
            <a:endParaRPr lang="en-US" sz="2800" dirty="0"/>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The map book</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Knowledge</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Files and sites loaded in advance</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EQ policies, SharePoint, reference docs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Still context, just pre-packed</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25</a:t>
            </a:r>
            <a:endParaRPr lang="en-US" sz="900" dirty="0"/>
          </a:p>
        </p:txBody>
      </p:sp>
      <p:pic>
        <p:nvPicPr>
          <p:cNvPr id="10" name="Picture 9" descr="A hand holding a book in the dash of a car&#10;&#10;AI-generated content may be incorrect.">
            <a:extLst>
              <a:ext uri="{FF2B5EF4-FFF2-40B4-BE49-F238E27FC236}">
                <a16:creationId xmlns:a16="http://schemas.microsoft.com/office/drawing/2014/main" id="{53E7D256-E5CA-518B-DD8E-F9C78FE829E9}"/>
              </a:ext>
            </a:extLst>
          </p:cNvPr>
          <p:cNvPicPr>
            <a:picLocks noChangeAspect="1"/>
          </p:cNvPicPr>
          <p:nvPr/>
        </p:nvPicPr>
        <p:blipFill>
          <a:blip r:embed="rId3"/>
          <a:srcRect l="9953" t="792" r="13200" b="20054"/>
          <a:stretch>
            <a:fillRect/>
          </a:stretch>
        </p:blipFill>
        <p:spPr>
          <a:xfrm>
            <a:off x="365280" y="455702"/>
            <a:ext cx="4021292" cy="41133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365760" y="457200"/>
            <a:ext cx="4023360" cy="411480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V10</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Job brief from head office</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V10 (see Visual Prompts doc)</a:t>
            </a:r>
            <a:endParaRPr lang="en-US" sz="2800" dirty="0"/>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The job brief</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System prompt (instructions)</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Researcher and Analyst = the same driver on a different brief</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Specialised instructions, slightly different kit</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Not a different brain</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26</a:t>
            </a:r>
            <a:endParaRPr lang="en-US" sz="900" dirty="0"/>
          </a:p>
        </p:txBody>
      </p:sp>
      <p:pic>
        <p:nvPicPr>
          <p:cNvPr id="10" name="Picture 9" descr="A person holding a clipboard with a person in front of a van&#10;&#10;AI-generated content may be incorrect.">
            <a:extLst>
              <a:ext uri="{FF2B5EF4-FFF2-40B4-BE49-F238E27FC236}">
                <a16:creationId xmlns:a16="http://schemas.microsoft.com/office/drawing/2014/main" id="{B1D6DE5A-F8FD-1270-0EA0-CA4B339458E2}"/>
              </a:ext>
            </a:extLst>
          </p:cNvPr>
          <p:cNvPicPr>
            <a:picLocks noChangeAspect="1"/>
          </p:cNvPicPr>
          <p:nvPr/>
        </p:nvPicPr>
        <p:blipFill>
          <a:blip r:embed="rId3"/>
          <a:srcRect l="12706" t="7398" r="11773" b="8608"/>
          <a:stretch>
            <a:fillRect/>
          </a:stretch>
        </p:blipFill>
        <p:spPr>
          <a:xfrm>
            <a:off x="365162" y="454788"/>
            <a:ext cx="4024639" cy="420543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365760" y="457200"/>
            <a:ext cx="4023360" cy="411480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V11</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The driver's kit</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V11 (see Visual Prompts doc)</a:t>
            </a:r>
            <a:endParaRPr lang="en-US" sz="2800" dirty="0"/>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The kit</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Tools</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The model asks to 'call this function with these inputs'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Search, read a file, run code, send an email</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From talking to acting</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27</a:t>
            </a:r>
            <a:endParaRPr lang="en-US" sz="900" dirty="0"/>
          </a:p>
        </p:txBody>
      </p:sp>
      <p:pic>
        <p:nvPicPr>
          <p:cNvPr id="10" name="Picture 9" descr="A person standing next to a truck&#10;&#10;AI-generated content may be incorrect.">
            <a:extLst>
              <a:ext uri="{FF2B5EF4-FFF2-40B4-BE49-F238E27FC236}">
                <a16:creationId xmlns:a16="http://schemas.microsoft.com/office/drawing/2014/main" id="{32A2A7E7-A1E8-4827-687A-A001FE9FFDF9}"/>
              </a:ext>
            </a:extLst>
          </p:cNvPr>
          <p:cNvPicPr>
            <a:picLocks noChangeAspect="1"/>
          </p:cNvPicPr>
          <p:nvPr/>
        </p:nvPicPr>
        <p:blipFill>
          <a:blip r:embed="rId3"/>
          <a:srcRect l="13185" t="5541" r="6676" b="14766"/>
          <a:stretch>
            <a:fillRect/>
          </a:stretch>
        </p:blipFill>
        <p:spPr>
          <a:xfrm>
            <a:off x="365162" y="456049"/>
            <a:ext cx="4113939" cy="411539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365760" y="457200"/>
            <a:ext cx="4023360" cy="411480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V12</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Standard tow bar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V12 (see Visual Prompts doc)</a:t>
            </a:r>
            <a:endParaRPr lang="en-US" sz="2800" dirty="0"/>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The standard tow bar</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MCP</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Model Context Protocol</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A standard way to package groups of tools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Build once, plug into any compatible AI app</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28</a:t>
            </a:r>
            <a:endParaRPr lang="en-US" sz="900" dirty="0"/>
          </a:p>
        </p:txBody>
      </p:sp>
      <p:pic>
        <p:nvPicPr>
          <p:cNvPr id="10" name="Picture 9" descr="A car with a trailer&#10;&#10;AI-generated content may be incorrect.">
            <a:extLst>
              <a:ext uri="{FF2B5EF4-FFF2-40B4-BE49-F238E27FC236}">
                <a16:creationId xmlns:a16="http://schemas.microsoft.com/office/drawing/2014/main" id="{5C658CFD-E87E-5D4A-81A9-72097841C1E8}"/>
              </a:ext>
            </a:extLst>
          </p:cNvPr>
          <p:cNvPicPr>
            <a:picLocks noChangeAspect="1"/>
          </p:cNvPicPr>
          <p:nvPr/>
        </p:nvPicPr>
        <p:blipFill>
          <a:blip r:embed="rId3"/>
          <a:srcRect l="10124" t="4532" r="6742" b="11510"/>
          <a:stretch>
            <a:fillRect/>
          </a:stretch>
        </p:blipFill>
        <p:spPr>
          <a:xfrm>
            <a:off x="266384" y="455472"/>
            <a:ext cx="4119372" cy="419620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365760" y="457200"/>
            <a:ext cx="4023360" cy="4114800"/>
          </a:xfrm>
          <a:prstGeom prst="rect">
            <a:avLst/>
          </a:prstGeom>
          <a:solidFill>
            <a:srgbClr val="2F343E"/>
          </a:solidFill>
          <a:ln w="15875">
            <a:solidFill>
              <a:srgbClr val="5A606B"/>
            </a:solidFill>
            <a:prstDash val="dash"/>
          </a:ln>
        </p:spPr>
        <p:txBody>
          <a:bodyPr/>
          <a:lstStyle/>
          <a:p>
            <a:endParaRPr lang="en-GB"/>
          </a:p>
        </p:txBody>
      </p:sp>
      <p:sp>
        <p:nvSpPr>
          <p:cNvPr id="5" name="Text 2"/>
          <p:cNvSpPr/>
          <p:nvPr/>
        </p:nvSpPr>
        <p:spPr>
          <a:xfrm>
            <a:off x="4663440" y="502920"/>
            <a:ext cx="4114800" cy="411480"/>
          </a:xfrm>
          <a:prstGeom prst="rect">
            <a:avLst/>
          </a:prstGeom>
          <a:noFill/>
          <a:ln/>
        </p:spPr>
        <p:txBody>
          <a:bodyPr wrap="square" lIns="0" tIns="0" rIns="0" bIns="0" rtlCol="0" anchor="ctr"/>
          <a:lstStyle/>
          <a:p>
            <a:pPr marL="0" indent="0">
              <a:buNone/>
            </a:pPr>
            <a:r>
              <a:rPr lang="en-US" sz="1600" strike="sngStrike" dirty="0">
                <a:solidFill>
                  <a:srgbClr val="8A8F98"/>
                </a:solidFill>
                <a:latin typeface="Calibri" pitchFamily="34" charset="0"/>
                <a:ea typeface="Calibri" pitchFamily="34" charset="-122"/>
                <a:cs typeface="Calibri" pitchFamily="34" charset="-120"/>
              </a:rPr>
              <a:t>The logistics firm</a:t>
            </a:r>
            <a:endParaRPr lang="en-US" sz="1600" dirty="0"/>
          </a:p>
        </p:txBody>
      </p:sp>
      <p:sp>
        <p:nvSpPr>
          <p:cNvPr id="6" name="Text 3"/>
          <p:cNvSpPr/>
          <p:nvPr/>
        </p:nvSpPr>
        <p:spPr>
          <a:xfrm>
            <a:off x="4663440" y="914400"/>
            <a:ext cx="4114800" cy="914400"/>
          </a:xfrm>
          <a:prstGeom prst="rect">
            <a:avLst/>
          </a:prstGeom>
          <a:noFill/>
          <a:ln/>
        </p:spPr>
        <p:txBody>
          <a:bodyPr wrap="square" lIns="0" tIns="0" rIns="0" bIns="0" rtlCol="0" anchor="t"/>
          <a:lstStyle/>
          <a:p>
            <a:pPr marL="0" indent="0">
              <a:buNone/>
            </a:pPr>
            <a:r>
              <a:rPr lang="en-US" sz="2800" b="1" dirty="0">
                <a:solidFill>
                  <a:srgbClr val="F5B700"/>
                </a:solidFill>
                <a:latin typeface="Trebuchet MS" pitchFamily="34" charset="0"/>
                <a:ea typeface="Trebuchet MS" pitchFamily="34" charset="-122"/>
                <a:cs typeface="Trebuchet MS" pitchFamily="34" charset="-120"/>
              </a:rPr>
              <a:t>Multi-agent systems</a:t>
            </a:r>
            <a:endParaRPr lang="en-US" sz="2800" dirty="0"/>
          </a:p>
        </p:txBody>
      </p:sp>
      <p:sp>
        <p:nvSpPr>
          <p:cNvPr id="7" name="Text 4"/>
          <p:cNvSpPr/>
          <p:nvPr/>
        </p:nvSpPr>
        <p:spPr>
          <a:xfrm>
            <a:off x="4663440" y="196596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An orchestrator agent delegates to specialist agents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Each specialist has its own toolboxes (MCP)</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Specialisation creates complex architecture</a:t>
            </a:r>
            <a:endParaRPr lang="en-US" sz="15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29</a:t>
            </a:r>
            <a:endParaRPr lang="en-US" sz="900" dirty="0"/>
          </a:p>
        </p:txBody>
      </p:sp>
      <p:pic>
        <p:nvPicPr>
          <p:cNvPr id="10" name="Picture 9" descr="A person sitting at a desk with a computer and multiple vehicles around him&#10;&#10;AI-generated content may be incorrect.">
            <a:extLst>
              <a:ext uri="{FF2B5EF4-FFF2-40B4-BE49-F238E27FC236}">
                <a16:creationId xmlns:a16="http://schemas.microsoft.com/office/drawing/2014/main" id="{B1DF4D19-B4AE-E4A9-A1EC-51077999B776}"/>
              </a:ext>
            </a:extLst>
          </p:cNvPr>
          <p:cNvPicPr>
            <a:picLocks noChangeAspect="1"/>
          </p:cNvPicPr>
          <p:nvPr/>
        </p:nvPicPr>
        <p:blipFill>
          <a:blip r:embed="rId3"/>
          <a:srcRect l="15171" t="3852" r="6970" b="16572"/>
          <a:stretch>
            <a:fillRect/>
          </a:stretch>
        </p:blipFill>
        <p:spPr>
          <a:xfrm>
            <a:off x="285791" y="296333"/>
            <a:ext cx="4201251" cy="436635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V14</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Every journey starts with amnesia</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V14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Where the analogy breaks</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A real driver learns your routes over time</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An AI driver starts every journey with amnesia</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It only knows what the car hands it each time</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30</a:t>
            </a:r>
            <a:endParaRPr lang="en-US" sz="900" dirty="0"/>
          </a:p>
        </p:txBody>
      </p:sp>
      <p:pic>
        <p:nvPicPr>
          <p:cNvPr id="2" name="Picture 1">
            <a:extLst>
              <a:ext uri="{FF2B5EF4-FFF2-40B4-BE49-F238E27FC236}">
                <a16:creationId xmlns:a16="http://schemas.microsoft.com/office/drawing/2014/main" id="{C32DDD2A-3762-E235-90E3-97A1088D77DD}"/>
              </a:ext>
            </a:extLst>
          </p:cNvPr>
          <p:cNvPicPr>
            <a:picLocks noChangeAspect="1"/>
          </p:cNvPicPr>
          <p:nvPr/>
        </p:nvPicPr>
        <p:blipFill>
          <a:blip r:embed="rId3"/>
          <a:srcRect r="-4" b="7991"/>
          <a:stretch>
            <a:fillRect/>
          </a:stretch>
        </p:blipFill>
        <p:spPr>
          <a:xfrm>
            <a:off x="4039305" y="296333"/>
            <a:ext cx="4741509" cy="436894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V15</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Confident wrong delivery</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V15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Hallucination</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Confident delivery to the wrong address</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Happens to every driver</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Cause: missing context + preferring to answer over admitting doubt</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31</a:t>
            </a:r>
            <a:endParaRPr lang="en-US" sz="900" dirty="0"/>
          </a:p>
        </p:txBody>
      </p:sp>
      <p:pic>
        <p:nvPicPr>
          <p:cNvPr id="2" name="Picture 1">
            <a:extLst>
              <a:ext uri="{FF2B5EF4-FFF2-40B4-BE49-F238E27FC236}">
                <a16:creationId xmlns:a16="http://schemas.microsoft.com/office/drawing/2014/main" id="{C0B70B42-81B0-BD8C-F4C0-B24F0BDD571F}"/>
              </a:ext>
            </a:extLst>
          </p:cNvPr>
          <p:cNvPicPr>
            <a:picLocks noChangeAspect="1"/>
          </p:cNvPicPr>
          <p:nvPr/>
        </p:nvPicPr>
        <p:blipFill>
          <a:blip r:embed="rId3"/>
          <a:srcRect l="189" r="-17" b="9452"/>
          <a:stretch>
            <a:fillRect/>
          </a:stretch>
        </p:blipFill>
        <p:spPr>
          <a:xfrm>
            <a:off x="4111809" y="275167"/>
            <a:ext cx="4761368" cy="439538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22262E"/>
        </a:solidFill>
        <a:effectLst/>
      </p:bgPr>
    </p:bg>
    <p:spTree>
      <p:nvGrpSpPr>
        <p:cNvPr id="1" name=""/>
        <p:cNvGrpSpPr/>
        <p:nvPr/>
      </p:nvGrpSpPr>
      <p:grpSpPr>
        <a:xfrm>
          <a:off x="0" y="0"/>
          <a:ext cx="0" cy="0"/>
          <a:chOff x="0" y="0"/>
          <a:chExt cx="0" cy="0"/>
        </a:xfrm>
      </p:grpSpPr>
      <p:sp>
        <p:nvSpPr>
          <p:cNvPr id="3" name="Text 0"/>
          <p:cNvSpPr/>
          <p:nvPr/>
        </p:nvSpPr>
        <p:spPr>
          <a:xfrm>
            <a:off x="640080" y="1463040"/>
            <a:ext cx="7863840" cy="1097280"/>
          </a:xfrm>
          <a:prstGeom prst="rect">
            <a:avLst/>
          </a:prstGeom>
          <a:noFill/>
          <a:ln/>
        </p:spPr>
        <p:txBody>
          <a:bodyPr wrap="square" lIns="0" tIns="0" rIns="0" bIns="0" rtlCol="0" anchor="ctr"/>
          <a:lstStyle/>
          <a:p>
            <a:pPr marL="0" indent="0">
              <a:buNone/>
            </a:pPr>
            <a:r>
              <a:rPr lang="en-US" sz="4000" b="1" dirty="0">
                <a:solidFill>
                  <a:srgbClr val="F5B700"/>
                </a:solidFill>
                <a:latin typeface="Trebuchet MS" pitchFamily="34" charset="0"/>
                <a:ea typeface="Trebuchet MS" pitchFamily="34" charset="-122"/>
                <a:cs typeface="Trebuchet MS" pitchFamily="34" charset="-120"/>
              </a:rPr>
              <a:t>How hard should the driver think?</a:t>
            </a:r>
            <a:endParaRPr lang="en-US" sz="4000" dirty="0"/>
          </a:p>
        </p:txBody>
      </p:sp>
      <p:sp>
        <p:nvSpPr>
          <p:cNvPr id="4" name="Text 1"/>
          <p:cNvSpPr/>
          <p:nvPr/>
        </p:nvSpPr>
        <p:spPr>
          <a:xfrm>
            <a:off x="640080" y="2606040"/>
            <a:ext cx="7863840" cy="64008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Same journey, different drivers, different effort</a:t>
            </a:r>
            <a:endParaRPr lang="en-US" sz="2000" dirty="0"/>
          </a:p>
        </p:txBody>
      </p:sp>
      <p:sp>
        <p:nvSpPr>
          <p:cNvPr id="5" name="Shape 2"/>
          <p:cNvSpPr/>
          <p:nvPr/>
        </p:nvSpPr>
        <p:spPr>
          <a:xfrm>
            <a:off x="365760" y="4873752"/>
            <a:ext cx="8412480" cy="0"/>
          </a:xfrm>
          <a:prstGeom prst="line">
            <a:avLst/>
          </a:prstGeom>
          <a:noFill/>
          <a:ln w="25400">
            <a:solidFill>
              <a:srgbClr val="F5B700"/>
            </a:solidFill>
            <a:prstDash val="dash"/>
          </a:ln>
        </p:spPr>
      </p:sp>
      <p:sp>
        <p:nvSpPr>
          <p:cNvPr id="6" name="Text 3"/>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V16</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Route: moped delivery</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V16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Moped: short and repeatable</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Short known route, done fast and cheap</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Haiku / GPT mini class</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33</a:t>
            </a:r>
            <a:endParaRPr lang="en-US" sz="900" dirty="0"/>
          </a:p>
        </p:txBody>
      </p:sp>
      <p:pic>
        <p:nvPicPr>
          <p:cNvPr id="2" name="Picture 1">
            <a:extLst>
              <a:ext uri="{FF2B5EF4-FFF2-40B4-BE49-F238E27FC236}">
                <a16:creationId xmlns:a16="http://schemas.microsoft.com/office/drawing/2014/main" id="{10427859-33D5-7B59-065F-2491053A79BB}"/>
              </a:ext>
            </a:extLst>
          </p:cNvPr>
          <p:cNvPicPr>
            <a:picLocks noChangeAspect="1"/>
          </p:cNvPicPr>
          <p:nvPr/>
        </p:nvPicPr>
        <p:blipFill>
          <a:blip r:embed="rId3"/>
          <a:srcRect l="5350" b="14442"/>
          <a:stretch>
            <a:fillRect/>
          </a:stretch>
        </p:blipFill>
        <p:spPr>
          <a:xfrm>
            <a:off x="4004028" y="275167"/>
            <a:ext cx="4868339" cy="440066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V17</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Route: F1 racing driver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V17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Racing driver: fast on a known track</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Very quick on well-understood tasks</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Sonnet / standard GPT</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34</a:t>
            </a:r>
            <a:endParaRPr lang="en-US" sz="900" dirty="0"/>
          </a:p>
        </p:txBody>
      </p:sp>
      <p:pic>
        <p:nvPicPr>
          <p:cNvPr id="2" name="Picture 1">
            <a:extLst>
              <a:ext uri="{FF2B5EF4-FFF2-40B4-BE49-F238E27FC236}">
                <a16:creationId xmlns:a16="http://schemas.microsoft.com/office/drawing/2014/main" id="{06530396-F091-9234-A6B2-6B74C0B0B0FB}"/>
              </a:ext>
            </a:extLst>
          </p:cNvPr>
          <p:cNvPicPr>
            <a:picLocks noChangeAspect="1"/>
          </p:cNvPicPr>
          <p:nvPr/>
        </p:nvPicPr>
        <p:blipFill>
          <a:blip r:embed="rId3"/>
          <a:srcRect r="-17" b="9925"/>
          <a:stretch>
            <a:fillRect/>
          </a:stretch>
        </p:blipFill>
        <p:spPr>
          <a:xfrm>
            <a:off x="4046361" y="296333"/>
            <a:ext cx="4826811" cy="436610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V18</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Route: long-haul HGV</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V18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Long haul: plans the route</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Considers options, avoids traffic</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Slower, costs more fuel</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Opus / GPT Thinking &amp; Pro class</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35</a:t>
            </a:r>
            <a:endParaRPr lang="en-US" sz="900" dirty="0"/>
          </a:p>
        </p:txBody>
      </p:sp>
      <p:pic>
        <p:nvPicPr>
          <p:cNvPr id="2" name="Picture 1">
            <a:extLst>
              <a:ext uri="{FF2B5EF4-FFF2-40B4-BE49-F238E27FC236}">
                <a16:creationId xmlns:a16="http://schemas.microsoft.com/office/drawing/2014/main" id="{A8786A3A-ECFF-9071-E3BB-57769BB78C9B}"/>
              </a:ext>
            </a:extLst>
          </p:cNvPr>
          <p:cNvPicPr>
            <a:picLocks noChangeAspect="1"/>
          </p:cNvPicPr>
          <p:nvPr/>
        </p:nvPicPr>
        <p:blipFill>
          <a:blip r:embed="rId3"/>
          <a:srcRect b="9814"/>
          <a:stretch>
            <a:fillRect/>
          </a:stretch>
        </p:blipFill>
        <p:spPr>
          <a:xfrm>
            <a:off x="4046361" y="275167"/>
            <a:ext cx="4826000" cy="438419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V19</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Same journey: low effort</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V19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Low effort</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Takes the obvious road</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No alternatives, no edge cases</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Hits the roadworks</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36</a:t>
            </a:r>
            <a:endParaRPr lang="en-US" sz="900" dirty="0"/>
          </a:p>
        </p:txBody>
      </p:sp>
      <p:pic>
        <p:nvPicPr>
          <p:cNvPr id="2" name="Picture 1">
            <a:extLst>
              <a:ext uri="{FF2B5EF4-FFF2-40B4-BE49-F238E27FC236}">
                <a16:creationId xmlns:a16="http://schemas.microsoft.com/office/drawing/2014/main" id="{AD70D50A-BF40-3B84-388B-97A1F91E1685}"/>
              </a:ext>
            </a:extLst>
          </p:cNvPr>
          <p:cNvPicPr>
            <a:picLocks noChangeAspect="1"/>
          </p:cNvPicPr>
          <p:nvPr/>
        </p:nvPicPr>
        <p:blipFill>
          <a:blip r:embed="rId3"/>
          <a:srcRect r="-17" b="9852"/>
          <a:stretch>
            <a:fillRect/>
          </a:stretch>
        </p:blipFill>
        <p:spPr>
          <a:xfrm>
            <a:off x="4116916" y="289278"/>
            <a:ext cx="4847977" cy="437599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V21</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Same journey: medium effort</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V21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Medium effort (default)</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Checks the map once</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Picks a sensible route</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Right for most jobs</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37</a:t>
            </a:r>
            <a:endParaRPr lang="en-US" sz="900" dirty="0"/>
          </a:p>
        </p:txBody>
      </p:sp>
      <p:pic>
        <p:nvPicPr>
          <p:cNvPr id="2" name="Picture 1">
            <a:extLst>
              <a:ext uri="{FF2B5EF4-FFF2-40B4-BE49-F238E27FC236}">
                <a16:creationId xmlns:a16="http://schemas.microsoft.com/office/drawing/2014/main" id="{2DB47CE9-D8C2-2226-7FD8-A4249DEA8594}"/>
              </a:ext>
            </a:extLst>
          </p:cNvPr>
          <p:cNvPicPr>
            <a:picLocks noChangeAspect="1"/>
          </p:cNvPicPr>
          <p:nvPr/>
        </p:nvPicPr>
        <p:blipFill>
          <a:blip r:embed="rId3"/>
          <a:srcRect r="-17" b="9384"/>
          <a:stretch>
            <a:fillRect/>
          </a:stretch>
        </p:blipFill>
        <p:spPr>
          <a:xfrm>
            <a:off x="4025194" y="239889"/>
            <a:ext cx="4847977" cy="4430661"/>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V20</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Same journey: high effort</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V20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High effort</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Considers five routes, backtracks when in doubt</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Fixes the customer's gate on the way</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More fuel, more time. Better only if there was a real hazard</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38</a:t>
            </a:r>
            <a:endParaRPr lang="en-US" sz="900" dirty="0"/>
          </a:p>
        </p:txBody>
      </p:sp>
      <p:pic>
        <p:nvPicPr>
          <p:cNvPr id="2" name="Picture 1">
            <a:extLst>
              <a:ext uri="{FF2B5EF4-FFF2-40B4-BE49-F238E27FC236}">
                <a16:creationId xmlns:a16="http://schemas.microsoft.com/office/drawing/2014/main" id="{BC9089DA-5157-3052-5720-EA407D12F44E}"/>
              </a:ext>
            </a:extLst>
          </p:cNvPr>
          <p:cNvPicPr>
            <a:picLocks noChangeAspect="1"/>
          </p:cNvPicPr>
          <p:nvPr/>
        </p:nvPicPr>
        <p:blipFill>
          <a:blip r:embed="rId3"/>
          <a:srcRect l="-183" t="-290" b="10418"/>
          <a:stretch>
            <a:fillRect/>
          </a:stretch>
        </p:blipFill>
        <p:spPr>
          <a:xfrm>
            <a:off x="3931525" y="296333"/>
            <a:ext cx="4940839" cy="436894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V22</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Fleet with our vehicles</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V22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Two vehicles we built</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ProcureAI: purpose-built for one route</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Elissa: EQ's own fleet car, your keys</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39</a:t>
            </a:r>
            <a:endParaRPr lang="en-US" sz="900" dirty="0"/>
          </a:p>
        </p:txBody>
      </p:sp>
      <p:pic>
        <p:nvPicPr>
          <p:cNvPr id="2" name="Picture 1">
            <a:extLst>
              <a:ext uri="{FF2B5EF4-FFF2-40B4-BE49-F238E27FC236}">
                <a16:creationId xmlns:a16="http://schemas.microsoft.com/office/drawing/2014/main" id="{8E036FE0-B9D5-7EA8-E59A-4E95879D0981}"/>
              </a:ext>
            </a:extLst>
          </p:cNvPr>
          <p:cNvPicPr>
            <a:picLocks noChangeAspect="1"/>
          </p:cNvPicPr>
          <p:nvPr/>
        </p:nvPicPr>
        <p:blipFill>
          <a:blip r:embed="rId3"/>
          <a:srcRect r="-4" b="7137"/>
          <a:stretch>
            <a:fillRect/>
          </a:stretch>
        </p:blipFill>
        <p:spPr>
          <a:xfrm>
            <a:off x="4039305" y="261056"/>
            <a:ext cx="4741509" cy="4409497"/>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1A1D23"/>
        </a:solidFill>
        <a:effectLst/>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2A9D8F"/>
          </a:solidFill>
          <a:ln w="12700">
            <a:solidFill>
              <a:srgbClr val="2A9D8F"/>
            </a:solidFill>
            <a:prstDash val="solid"/>
          </a:ln>
        </p:spPr>
      </p:sp>
      <p:sp>
        <p:nvSpPr>
          <p:cNvPr id="4" name="Text 1"/>
          <p:cNvSpPr/>
          <p:nvPr/>
        </p:nvSpPr>
        <p:spPr>
          <a:xfrm>
            <a:off x="640080" y="1188720"/>
            <a:ext cx="1271016" cy="292608"/>
          </a:xfrm>
          <a:prstGeom prst="rect">
            <a:avLst/>
          </a:prstGeom>
          <a:solidFill>
            <a:srgbClr val="2A9D8F"/>
          </a:solid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LIVE DEMO</a:t>
            </a:r>
            <a:endParaRPr lang="en-US" sz="1000" dirty="0"/>
          </a:p>
        </p:txBody>
      </p:sp>
      <p:sp>
        <p:nvSpPr>
          <p:cNvPr id="5" name="Text 2"/>
          <p:cNvSpPr/>
          <p:nvPr/>
        </p:nvSpPr>
        <p:spPr>
          <a:xfrm>
            <a:off x="640080" y="1645920"/>
            <a:ext cx="7863840" cy="10972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ProcureAI</a:t>
            </a:r>
            <a:endParaRPr lang="en-US" sz="3600" dirty="0"/>
          </a:p>
        </p:txBody>
      </p:sp>
      <p:sp>
        <p:nvSpPr>
          <p:cNvPr id="6" name="Text 3"/>
          <p:cNvSpPr/>
          <p:nvPr/>
        </p:nvSpPr>
        <p:spPr>
          <a:xfrm>
            <a:off x="640080" y="4206240"/>
            <a:ext cx="4572000" cy="320040"/>
          </a:xfrm>
          <a:prstGeom prst="rect">
            <a:avLst/>
          </a:prstGeom>
          <a:noFill/>
          <a:ln/>
        </p:spPr>
        <p:txBody>
          <a:bodyPr wrap="square" lIns="0" tIns="0" rIns="0" bIns="0" rtlCol="0" anchor="ctr"/>
          <a:lstStyle/>
          <a:p>
            <a:pPr marL="0" indent="0">
              <a:buNone/>
            </a:pPr>
            <a:r>
              <a:rPr lang="en-US" sz="1000" i="1" dirty="0">
                <a:solidFill>
                  <a:srgbClr val="5A606B"/>
                </a:solidFill>
                <a:latin typeface="Calibri" pitchFamily="34" charset="0"/>
                <a:ea typeface="Calibri" pitchFamily="34" charset="-122"/>
                <a:cs typeface="Calibri" pitchFamily="34" charset="-120"/>
              </a:rPr>
              <a:t>Speaker points in notes</a:t>
            </a:r>
            <a:endParaRPr lang="en-US" sz="1000" dirty="0"/>
          </a:p>
        </p:txBody>
      </p:sp>
      <p:sp>
        <p:nvSpPr>
          <p:cNvPr id="7" name="Text 4"/>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1A1D23"/>
        </a:solidFill>
        <a:effectLst/>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2A9D8F"/>
          </a:solidFill>
          <a:ln w="12700">
            <a:solidFill>
              <a:srgbClr val="2A9D8F"/>
            </a:solidFill>
            <a:prstDash val="solid"/>
          </a:ln>
        </p:spPr>
      </p:sp>
      <p:sp>
        <p:nvSpPr>
          <p:cNvPr id="4" name="Text 1"/>
          <p:cNvSpPr/>
          <p:nvPr/>
        </p:nvSpPr>
        <p:spPr>
          <a:xfrm>
            <a:off x="640080" y="1188720"/>
            <a:ext cx="1271016" cy="292608"/>
          </a:xfrm>
          <a:prstGeom prst="rect">
            <a:avLst/>
          </a:prstGeom>
          <a:solidFill>
            <a:srgbClr val="2A9D8F"/>
          </a:solid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LIVE DEMO</a:t>
            </a:r>
            <a:endParaRPr lang="en-US" sz="1000" dirty="0"/>
          </a:p>
        </p:txBody>
      </p:sp>
      <p:sp>
        <p:nvSpPr>
          <p:cNvPr id="5" name="Text 2"/>
          <p:cNvSpPr/>
          <p:nvPr/>
        </p:nvSpPr>
        <p:spPr>
          <a:xfrm>
            <a:off x="640080" y="1645920"/>
            <a:ext cx="7863840" cy="10972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Same driver, different brief</a:t>
            </a:r>
            <a:endParaRPr lang="en-US" sz="3600" dirty="0"/>
          </a:p>
        </p:txBody>
      </p:sp>
      <p:sp>
        <p:nvSpPr>
          <p:cNvPr id="6" name="Text 3"/>
          <p:cNvSpPr/>
          <p:nvPr/>
        </p:nvSpPr>
        <p:spPr>
          <a:xfrm>
            <a:off x="640080" y="2743200"/>
            <a:ext cx="7863840" cy="548640"/>
          </a:xfrm>
          <a:prstGeom prst="rect">
            <a:avLst/>
          </a:prstGeom>
          <a:noFill/>
          <a:ln/>
        </p:spPr>
        <p:txBody>
          <a:bodyPr wrap="square" lIns="0" tIns="0" rIns="0" bIns="0" rtlCol="0" anchor="ctr"/>
          <a:lstStyle/>
          <a:p>
            <a:pPr marL="0" indent="0">
              <a:buNone/>
            </a:pPr>
            <a:r>
              <a:rPr lang="en-US" sz="1800" dirty="0">
                <a:solidFill>
                  <a:srgbClr val="F5B700"/>
                </a:solidFill>
                <a:latin typeface="Calibri" pitchFamily="34" charset="0"/>
                <a:ea typeface="Calibri" pitchFamily="34" charset="-122"/>
                <a:cs typeface="Calibri" pitchFamily="34" charset="-120"/>
              </a:rPr>
              <a:t>Copilot Chat vs Researcher</a:t>
            </a:r>
            <a:endParaRPr lang="en-US" sz="1800" dirty="0"/>
          </a:p>
        </p:txBody>
      </p:sp>
      <p:sp>
        <p:nvSpPr>
          <p:cNvPr id="7" name="Text 4"/>
          <p:cNvSpPr/>
          <p:nvPr/>
        </p:nvSpPr>
        <p:spPr>
          <a:xfrm>
            <a:off x="640080" y="4206240"/>
            <a:ext cx="4572000" cy="320040"/>
          </a:xfrm>
          <a:prstGeom prst="rect">
            <a:avLst/>
          </a:prstGeom>
          <a:noFill/>
          <a:ln/>
        </p:spPr>
        <p:txBody>
          <a:bodyPr wrap="square" lIns="0" tIns="0" rIns="0" bIns="0" rtlCol="0" anchor="ctr"/>
          <a:lstStyle/>
          <a:p>
            <a:pPr marL="0" indent="0">
              <a:buNone/>
            </a:pPr>
            <a:r>
              <a:rPr lang="en-US" sz="1000" i="1" dirty="0">
                <a:solidFill>
                  <a:srgbClr val="5A606B"/>
                </a:solidFill>
                <a:latin typeface="Calibri" pitchFamily="34" charset="0"/>
                <a:ea typeface="Calibri" pitchFamily="34" charset="-122"/>
                <a:cs typeface="Calibri" pitchFamily="34" charset="-120"/>
              </a:rPr>
              <a:t>Speaker points in notes</a:t>
            </a:r>
            <a:endParaRPr lang="en-US" sz="1000" dirty="0"/>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1A1D23"/>
        </a:solidFill>
        <a:effectLst/>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2A9D8F"/>
          </a:solidFill>
          <a:ln w="12700">
            <a:solidFill>
              <a:srgbClr val="2A9D8F"/>
            </a:solidFill>
            <a:prstDash val="solid"/>
          </a:ln>
        </p:spPr>
      </p:sp>
      <p:sp>
        <p:nvSpPr>
          <p:cNvPr id="4" name="Text 1"/>
          <p:cNvSpPr/>
          <p:nvPr/>
        </p:nvSpPr>
        <p:spPr>
          <a:xfrm>
            <a:off x="640080" y="1188720"/>
            <a:ext cx="1271016" cy="292608"/>
          </a:xfrm>
          <a:prstGeom prst="rect">
            <a:avLst/>
          </a:prstGeom>
          <a:solidFill>
            <a:srgbClr val="2A9D8F"/>
          </a:solid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LIVE DEMO</a:t>
            </a:r>
            <a:endParaRPr lang="en-US" sz="1000" dirty="0"/>
          </a:p>
        </p:txBody>
      </p:sp>
      <p:sp>
        <p:nvSpPr>
          <p:cNvPr id="5" name="Text 2"/>
          <p:cNvSpPr/>
          <p:nvPr/>
        </p:nvSpPr>
        <p:spPr>
          <a:xfrm>
            <a:off x="640080" y="1645920"/>
            <a:ext cx="7863840" cy="10972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Elissa</a:t>
            </a:r>
            <a:endParaRPr lang="en-US" sz="3600" dirty="0"/>
          </a:p>
        </p:txBody>
      </p:sp>
      <p:sp>
        <p:nvSpPr>
          <p:cNvPr id="6" name="Text 3"/>
          <p:cNvSpPr/>
          <p:nvPr/>
        </p:nvSpPr>
        <p:spPr>
          <a:xfrm>
            <a:off x="640080" y="2743200"/>
            <a:ext cx="7863840" cy="548640"/>
          </a:xfrm>
          <a:prstGeom prst="rect">
            <a:avLst/>
          </a:prstGeom>
          <a:noFill/>
          <a:ln/>
        </p:spPr>
        <p:txBody>
          <a:bodyPr wrap="square" lIns="0" tIns="0" rIns="0" bIns="0" rtlCol="0" anchor="ctr"/>
          <a:lstStyle/>
          <a:p>
            <a:pPr marL="0" indent="0">
              <a:buNone/>
            </a:pPr>
            <a:r>
              <a:rPr lang="en-US" sz="1800" dirty="0">
                <a:solidFill>
                  <a:srgbClr val="F5B700"/>
                </a:solidFill>
                <a:latin typeface="Calibri" pitchFamily="34" charset="0"/>
                <a:ea typeface="Calibri" pitchFamily="34" charset="-122"/>
                <a:cs typeface="Calibri" pitchFamily="34" charset="-120"/>
              </a:rPr>
              <a:t>The logistics firm in action</a:t>
            </a:r>
            <a:endParaRPr lang="en-US" sz="1800" dirty="0"/>
          </a:p>
        </p:txBody>
      </p:sp>
      <p:sp>
        <p:nvSpPr>
          <p:cNvPr id="7" name="Text 4"/>
          <p:cNvSpPr/>
          <p:nvPr/>
        </p:nvSpPr>
        <p:spPr>
          <a:xfrm>
            <a:off x="640080" y="4206240"/>
            <a:ext cx="4572000" cy="320040"/>
          </a:xfrm>
          <a:prstGeom prst="rect">
            <a:avLst/>
          </a:prstGeom>
          <a:noFill/>
          <a:ln/>
        </p:spPr>
        <p:txBody>
          <a:bodyPr wrap="square" lIns="0" tIns="0" rIns="0" bIns="0" rtlCol="0" anchor="ctr"/>
          <a:lstStyle/>
          <a:p>
            <a:pPr marL="0" indent="0">
              <a:buNone/>
            </a:pPr>
            <a:r>
              <a:rPr lang="en-US" sz="1000" i="1" dirty="0">
                <a:solidFill>
                  <a:srgbClr val="5A606B"/>
                </a:solidFill>
                <a:latin typeface="Calibri" pitchFamily="34" charset="0"/>
                <a:ea typeface="Calibri" pitchFamily="34" charset="-122"/>
                <a:cs typeface="Calibri" pitchFamily="34" charset="-120"/>
              </a:rPr>
              <a:t>Speaker points in notes</a:t>
            </a:r>
            <a:endParaRPr lang="en-US" sz="1000" dirty="0"/>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22262E"/>
        </a:solidFill>
        <a:effectLst/>
      </p:bgPr>
    </p:bg>
    <p:spTree>
      <p:nvGrpSpPr>
        <p:cNvPr id="1" name=""/>
        <p:cNvGrpSpPr/>
        <p:nvPr/>
      </p:nvGrpSpPr>
      <p:grpSpPr>
        <a:xfrm>
          <a:off x="0" y="0"/>
          <a:ext cx="0" cy="0"/>
          <a:chOff x="0" y="0"/>
          <a:chExt cx="0" cy="0"/>
        </a:xfrm>
      </p:grpSpPr>
      <p:sp>
        <p:nvSpPr>
          <p:cNvPr id="3" name="Text 0"/>
          <p:cNvSpPr/>
          <p:nvPr/>
        </p:nvSpPr>
        <p:spPr>
          <a:xfrm>
            <a:off x="640080" y="1463040"/>
            <a:ext cx="7863840" cy="1097280"/>
          </a:xfrm>
          <a:prstGeom prst="rect">
            <a:avLst/>
          </a:prstGeom>
          <a:noFill/>
          <a:ln/>
        </p:spPr>
        <p:txBody>
          <a:bodyPr wrap="square" lIns="0" tIns="0" rIns="0" bIns="0" rtlCol="0" anchor="ctr"/>
          <a:lstStyle/>
          <a:p>
            <a:pPr marL="0" indent="0">
              <a:buNone/>
            </a:pPr>
            <a:r>
              <a:rPr lang="en-US" sz="4000" b="1" dirty="0">
                <a:solidFill>
                  <a:srgbClr val="F5B700"/>
                </a:solidFill>
                <a:latin typeface="Trebuchet MS" pitchFamily="34" charset="0"/>
                <a:ea typeface="Trebuchet MS" pitchFamily="34" charset="-122"/>
                <a:cs typeface="Trebuchet MS" pitchFamily="34" charset="-120"/>
              </a:rPr>
              <a:t>So how does this help you?</a:t>
            </a:r>
            <a:endParaRPr lang="en-US" sz="4000" dirty="0"/>
          </a:p>
        </p:txBody>
      </p:sp>
      <p:sp>
        <p:nvSpPr>
          <p:cNvPr id="4" name="Text 1"/>
          <p:cNvSpPr/>
          <p:nvPr/>
        </p:nvSpPr>
        <p:spPr>
          <a:xfrm>
            <a:off x="640080" y="2606040"/>
            <a:ext cx="7863840" cy="64008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Two pillars, one destination</a:t>
            </a:r>
            <a:endParaRPr lang="en-US" sz="2000" dirty="0"/>
          </a:p>
        </p:txBody>
      </p:sp>
      <p:sp>
        <p:nvSpPr>
          <p:cNvPr id="5" name="Shape 2"/>
          <p:cNvSpPr/>
          <p:nvPr/>
        </p:nvSpPr>
        <p:spPr>
          <a:xfrm>
            <a:off x="365760" y="4873752"/>
            <a:ext cx="8412480" cy="0"/>
          </a:xfrm>
          <a:prstGeom prst="line">
            <a:avLst/>
          </a:prstGeom>
          <a:noFill/>
          <a:ln w="25400">
            <a:solidFill>
              <a:srgbClr val="F5B700"/>
            </a:solidFill>
            <a:prstDash val="dash"/>
          </a:ln>
        </p:spPr>
      </p:sp>
      <p:sp>
        <p:nvSpPr>
          <p:cNvPr id="6" name="Text 3"/>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V23</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Two pillars</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V23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Text and data lead to automation</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Text: how you talk to AI and judge its answers</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Data: how your work actually flows</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Both lead to automating the task</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44</a:t>
            </a:r>
            <a:endParaRPr lang="en-US" sz="900" dirty="0"/>
          </a:p>
        </p:txBody>
      </p:sp>
      <p:pic>
        <p:nvPicPr>
          <p:cNvPr id="2" name="Picture 1">
            <a:extLst>
              <a:ext uri="{FF2B5EF4-FFF2-40B4-BE49-F238E27FC236}">
                <a16:creationId xmlns:a16="http://schemas.microsoft.com/office/drawing/2014/main" id="{344D07F7-1765-C1AF-A6E3-8363EC9E9DF9}"/>
              </a:ext>
            </a:extLst>
          </p:cNvPr>
          <p:cNvPicPr>
            <a:picLocks noChangeAspect="1"/>
          </p:cNvPicPr>
          <p:nvPr/>
        </p:nvPicPr>
        <p:blipFill>
          <a:blip r:embed="rId3"/>
          <a:srcRect b="11309"/>
          <a:stretch>
            <a:fillRect/>
          </a:stretch>
        </p:blipFill>
        <p:spPr>
          <a:xfrm>
            <a:off x="4025194" y="366889"/>
            <a:ext cx="4847167" cy="429897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V24</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Wrong job, not a bad driver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V24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Wrong job, not a bad driver</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Asking an AI voice to be a horse, then calling AI stupid</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Hire a lorry driver, ask him to dance</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The skill is matching the job to the tool</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45</a:t>
            </a:r>
            <a:endParaRPr lang="en-US" sz="900" dirty="0"/>
          </a:p>
        </p:txBody>
      </p:sp>
      <p:pic>
        <p:nvPicPr>
          <p:cNvPr id="2" name="Picture 1">
            <a:extLst>
              <a:ext uri="{FF2B5EF4-FFF2-40B4-BE49-F238E27FC236}">
                <a16:creationId xmlns:a16="http://schemas.microsoft.com/office/drawing/2014/main" id="{BF25E994-6D85-D17B-A3F8-A603E3FD949F}"/>
              </a:ext>
            </a:extLst>
          </p:cNvPr>
          <p:cNvPicPr>
            <a:picLocks noChangeAspect="1"/>
          </p:cNvPicPr>
          <p:nvPr/>
        </p:nvPicPr>
        <p:blipFill>
          <a:blip r:embed="rId3"/>
          <a:srcRect l="-33" r="-17" b="10018"/>
          <a:stretch>
            <a:fillRect/>
          </a:stretch>
        </p:blipFill>
        <p:spPr>
          <a:xfrm>
            <a:off x="4115328" y="366889"/>
            <a:ext cx="4757846" cy="4298101"/>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V25</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Confidently wrong vs asks for directions</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V25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From confidently wrong to honest</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'Confidently wrong' became a phrase about AI</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Newer models are more likely to say when they're unsure</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Treat caveats as signals, not padding</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46</a:t>
            </a:r>
            <a:endParaRPr lang="en-US" sz="900" dirty="0"/>
          </a:p>
        </p:txBody>
      </p:sp>
      <p:pic>
        <p:nvPicPr>
          <p:cNvPr id="2" name="Picture 1">
            <a:extLst>
              <a:ext uri="{FF2B5EF4-FFF2-40B4-BE49-F238E27FC236}">
                <a16:creationId xmlns:a16="http://schemas.microsoft.com/office/drawing/2014/main" id="{5D6961FF-911A-AC86-A69A-BF5ADF004229}"/>
              </a:ext>
            </a:extLst>
          </p:cNvPr>
          <p:cNvPicPr>
            <a:picLocks noChangeAspect="1"/>
          </p:cNvPicPr>
          <p:nvPr/>
        </p:nvPicPr>
        <p:blipFill>
          <a:blip r:embed="rId3"/>
          <a:srcRect l="-33" r="-17" b="9990"/>
          <a:stretch>
            <a:fillRect/>
          </a:stretch>
        </p:blipFill>
        <p:spPr>
          <a:xfrm>
            <a:off x="4115328" y="366889"/>
            <a:ext cx="4757846" cy="429941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1A1D23"/>
        </a:solidFill>
        <a:effectLst/>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2A9D8F"/>
          </a:solidFill>
          <a:ln w="12700">
            <a:solidFill>
              <a:srgbClr val="2A9D8F"/>
            </a:solidFill>
            <a:prstDash val="solid"/>
          </a:ln>
        </p:spPr>
      </p:sp>
      <p:sp>
        <p:nvSpPr>
          <p:cNvPr id="4" name="Text 1"/>
          <p:cNvSpPr/>
          <p:nvPr/>
        </p:nvSpPr>
        <p:spPr>
          <a:xfrm>
            <a:off x="640080" y="1188720"/>
            <a:ext cx="1572768" cy="292608"/>
          </a:xfrm>
          <a:prstGeom prst="rect">
            <a:avLst/>
          </a:prstGeom>
          <a:solidFill>
            <a:srgbClr val="2A9D8F"/>
          </a:solid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SIDE BY SIDE</a:t>
            </a:r>
            <a:endParaRPr lang="en-US" sz="1000" dirty="0"/>
          </a:p>
        </p:txBody>
      </p:sp>
      <p:sp>
        <p:nvSpPr>
          <p:cNvPr id="5" name="Text 2"/>
          <p:cNvSpPr/>
          <p:nvPr/>
        </p:nvSpPr>
        <p:spPr>
          <a:xfrm>
            <a:off x="640080" y="1645920"/>
            <a:ext cx="7863840" cy="10972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Same question, three levels of context</a:t>
            </a:r>
            <a:endParaRPr lang="en-US" sz="3600" dirty="0"/>
          </a:p>
        </p:txBody>
      </p:sp>
      <p:sp>
        <p:nvSpPr>
          <p:cNvPr id="6" name="Text 3"/>
          <p:cNvSpPr/>
          <p:nvPr/>
        </p:nvSpPr>
        <p:spPr>
          <a:xfrm>
            <a:off x="640080" y="2743200"/>
            <a:ext cx="7863840" cy="548640"/>
          </a:xfrm>
          <a:prstGeom prst="rect">
            <a:avLst/>
          </a:prstGeom>
          <a:noFill/>
          <a:ln/>
        </p:spPr>
        <p:txBody>
          <a:bodyPr wrap="square" lIns="0" tIns="0" rIns="0" bIns="0" rtlCol="0" anchor="ctr"/>
          <a:lstStyle/>
          <a:p>
            <a:pPr marL="0" indent="0">
              <a:buNone/>
            </a:pPr>
            <a:r>
              <a:rPr lang="en-US" sz="1800" dirty="0">
                <a:solidFill>
                  <a:srgbClr val="F5B700"/>
                </a:solidFill>
                <a:latin typeface="Calibri" pitchFamily="34" charset="0"/>
                <a:ea typeface="Calibri" pitchFamily="34" charset="-122"/>
                <a:cs typeface="Calibri" pitchFamily="34" charset="-120"/>
              </a:rPr>
              <a:t>You be the judge</a:t>
            </a:r>
            <a:endParaRPr lang="en-US" sz="1800" dirty="0"/>
          </a:p>
        </p:txBody>
      </p:sp>
      <p:sp>
        <p:nvSpPr>
          <p:cNvPr id="7" name="Text 4"/>
          <p:cNvSpPr/>
          <p:nvPr/>
        </p:nvSpPr>
        <p:spPr>
          <a:xfrm>
            <a:off x="640080" y="4206240"/>
            <a:ext cx="4572000" cy="320040"/>
          </a:xfrm>
          <a:prstGeom prst="rect">
            <a:avLst/>
          </a:prstGeom>
          <a:noFill/>
          <a:ln/>
        </p:spPr>
        <p:txBody>
          <a:bodyPr wrap="square" lIns="0" tIns="0" rIns="0" bIns="0" rtlCol="0" anchor="ctr"/>
          <a:lstStyle/>
          <a:p>
            <a:pPr marL="0" indent="0">
              <a:buNone/>
            </a:pPr>
            <a:r>
              <a:rPr lang="en-US" sz="1000" i="1" dirty="0">
                <a:solidFill>
                  <a:srgbClr val="5A606B"/>
                </a:solidFill>
                <a:latin typeface="Calibri" pitchFamily="34" charset="0"/>
                <a:ea typeface="Calibri" pitchFamily="34" charset="-122"/>
                <a:cs typeface="Calibri" pitchFamily="34" charset="-120"/>
              </a:rPr>
              <a:t>Speaker points in notes</a:t>
            </a:r>
            <a:endParaRPr lang="en-US" sz="1000" dirty="0"/>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1A1D23"/>
        </a:solidFill>
        <a:effectLst/>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2A9D8F"/>
          </a:solidFill>
          <a:ln w="12700">
            <a:solidFill>
              <a:srgbClr val="2A9D8F"/>
            </a:solidFill>
            <a:prstDash val="solid"/>
          </a:ln>
        </p:spPr>
      </p:sp>
      <p:sp>
        <p:nvSpPr>
          <p:cNvPr id="4" name="Text 1"/>
          <p:cNvSpPr/>
          <p:nvPr/>
        </p:nvSpPr>
        <p:spPr>
          <a:xfrm>
            <a:off x="640080" y="1188720"/>
            <a:ext cx="1188720" cy="292608"/>
          </a:xfrm>
          <a:prstGeom prst="rect">
            <a:avLst/>
          </a:prstGeom>
          <a:solidFill>
            <a:srgbClr val="2A9D8F"/>
          </a:solid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TIPS</a:t>
            </a:r>
            <a:endParaRPr lang="en-US" sz="1000" dirty="0"/>
          </a:p>
        </p:txBody>
      </p:sp>
      <p:sp>
        <p:nvSpPr>
          <p:cNvPr id="5" name="Text 2"/>
          <p:cNvSpPr/>
          <p:nvPr/>
        </p:nvSpPr>
        <p:spPr>
          <a:xfrm>
            <a:off x="640080" y="1645920"/>
            <a:ext cx="7863840" cy="10972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Talking to AI</a:t>
            </a:r>
            <a:endParaRPr lang="en-US" sz="3600" dirty="0"/>
          </a:p>
        </p:txBody>
      </p:sp>
      <p:sp>
        <p:nvSpPr>
          <p:cNvPr id="6" name="Text 3"/>
          <p:cNvSpPr/>
          <p:nvPr/>
        </p:nvSpPr>
        <p:spPr>
          <a:xfrm>
            <a:off x="640080" y="4206240"/>
            <a:ext cx="4572000" cy="320040"/>
          </a:xfrm>
          <a:prstGeom prst="rect">
            <a:avLst/>
          </a:prstGeom>
          <a:noFill/>
          <a:ln/>
        </p:spPr>
        <p:txBody>
          <a:bodyPr wrap="square" lIns="0" tIns="0" rIns="0" bIns="0" rtlCol="0" anchor="ctr"/>
          <a:lstStyle/>
          <a:p>
            <a:pPr marL="0" indent="0">
              <a:buNone/>
            </a:pPr>
            <a:r>
              <a:rPr lang="en-US" sz="1000" i="1" dirty="0">
                <a:solidFill>
                  <a:srgbClr val="5A606B"/>
                </a:solidFill>
                <a:latin typeface="Calibri" pitchFamily="34" charset="0"/>
                <a:ea typeface="Calibri" pitchFamily="34" charset="-122"/>
                <a:cs typeface="Calibri" pitchFamily="34" charset="-120"/>
              </a:rPr>
              <a:t>Speaker points in notes</a:t>
            </a:r>
            <a:endParaRPr lang="en-US" sz="1000" dirty="0"/>
          </a:p>
        </p:txBody>
      </p:sp>
      <p:sp>
        <p:nvSpPr>
          <p:cNvPr id="7" name="Text 4"/>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V26</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Your workflow is the route</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V26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Your workflow is the route</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AI work isn't a soup of text</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It sits inside a task, inside a process</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Map the legs before you hand any to AI</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49</a:t>
            </a:r>
            <a:endParaRPr lang="en-US" sz="900" dirty="0"/>
          </a:p>
        </p:txBody>
      </p:sp>
      <p:pic>
        <p:nvPicPr>
          <p:cNvPr id="2" name="Picture 1">
            <a:extLst>
              <a:ext uri="{FF2B5EF4-FFF2-40B4-BE49-F238E27FC236}">
                <a16:creationId xmlns:a16="http://schemas.microsoft.com/office/drawing/2014/main" id="{1D85D757-69E5-E313-6B60-23CD22DCB308}"/>
              </a:ext>
            </a:extLst>
          </p:cNvPr>
          <p:cNvPicPr>
            <a:picLocks noChangeAspect="1"/>
          </p:cNvPicPr>
          <p:nvPr/>
        </p:nvPicPr>
        <p:blipFill>
          <a:blip r:embed="rId3"/>
          <a:srcRect l="79" r="-4" b="6230"/>
          <a:stretch>
            <a:fillRect/>
          </a:stretch>
        </p:blipFill>
        <p:spPr>
          <a:xfrm>
            <a:off x="4113568" y="289278"/>
            <a:ext cx="4667248" cy="436656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1A1D23"/>
        </a:solidFill>
        <a:effectLst/>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2A9D8F"/>
          </a:solidFill>
          <a:ln w="12700">
            <a:solidFill>
              <a:srgbClr val="2A9D8F"/>
            </a:solidFill>
            <a:prstDash val="solid"/>
          </a:ln>
        </p:spPr>
      </p:sp>
      <p:sp>
        <p:nvSpPr>
          <p:cNvPr id="4" name="Text 1"/>
          <p:cNvSpPr/>
          <p:nvPr/>
        </p:nvSpPr>
        <p:spPr>
          <a:xfrm>
            <a:off x="640080" y="1188720"/>
            <a:ext cx="2075688" cy="292608"/>
          </a:xfrm>
          <a:prstGeom prst="rect">
            <a:avLst/>
          </a:prstGeom>
          <a:solidFill>
            <a:srgbClr val="2A9D8F"/>
          </a:solid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COLLEAGUE EXAMPLE</a:t>
            </a:r>
            <a:endParaRPr lang="en-US" sz="1000" dirty="0"/>
          </a:p>
        </p:txBody>
      </p:sp>
      <p:sp>
        <p:nvSpPr>
          <p:cNvPr id="5" name="Text 2"/>
          <p:cNvSpPr/>
          <p:nvPr/>
        </p:nvSpPr>
        <p:spPr>
          <a:xfrm>
            <a:off x="640080" y="1645920"/>
            <a:ext cx="7863840" cy="10972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How Vinay compares vendor proposals</a:t>
            </a:r>
            <a:endParaRPr lang="en-US" sz="3600" dirty="0"/>
          </a:p>
        </p:txBody>
      </p:sp>
      <p:sp>
        <p:nvSpPr>
          <p:cNvPr id="6" name="Text 3"/>
          <p:cNvSpPr/>
          <p:nvPr/>
        </p:nvSpPr>
        <p:spPr>
          <a:xfrm>
            <a:off x="640080" y="4206240"/>
            <a:ext cx="4572000" cy="320040"/>
          </a:xfrm>
          <a:prstGeom prst="rect">
            <a:avLst/>
          </a:prstGeom>
          <a:noFill/>
          <a:ln/>
        </p:spPr>
        <p:txBody>
          <a:bodyPr wrap="square" lIns="0" tIns="0" rIns="0" bIns="0" rtlCol="0" anchor="ctr"/>
          <a:lstStyle/>
          <a:p>
            <a:pPr marL="0" indent="0">
              <a:buNone/>
            </a:pPr>
            <a:r>
              <a:rPr lang="en-US" sz="1000" i="1" dirty="0">
                <a:solidFill>
                  <a:srgbClr val="5A606B"/>
                </a:solidFill>
                <a:latin typeface="Calibri" pitchFamily="34" charset="0"/>
                <a:ea typeface="Calibri" pitchFamily="34" charset="-122"/>
                <a:cs typeface="Calibri" pitchFamily="34" charset="-120"/>
              </a:rPr>
              <a:t>Speaker points in notes</a:t>
            </a:r>
            <a:endParaRPr lang="en-US" sz="1000" dirty="0"/>
          </a:p>
        </p:txBody>
      </p:sp>
      <p:sp>
        <p:nvSpPr>
          <p:cNvPr id="7" name="Text 4"/>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V27</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Proof of delivery 9/10</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V27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Check until 9 out of 10</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Verify every delivery until you trust it</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Only then make it a regular round</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51</a:t>
            </a:r>
            <a:endParaRPr lang="en-US" sz="900" dirty="0"/>
          </a:p>
        </p:txBody>
      </p:sp>
      <p:pic>
        <p:nvPicPr>
          <p:cNvPr id="2" name="Picture 1">
            <a:extLst>
              <a:ext uri="{FF2B5EF4-FFF2-40B4-BE49-F238E27FC236}">
                <a16:creationId xmlns:a16="http://schemas.microsoft.com/office/drawing/2014/main" id="{1E41732B-0623-7956-E0A6-45D1B4182AD7}"/>
              </a:ext>
            </a:extLst>
          </p:cNvPr>
          <p:cNvPicPr>
            <a:picLocks noChangeAspect="1"/>
          </p:cNvPicPr>
          <p:nvPr/>
        </p:nvPicPr>
        <p:blipFill>
          <a:blip r:embed="rId3"/>
          <a:srcRect l="-34" r="-4" b="9810"/>
          <a:stretch>
            <a:fillRect/>
          </a:stretch>
        </p:blipFill>
        <p:spPr>
          <a:xfrm>
            <a:off x="4115328" y="366889"/>
            <a:ext cx="4665485" cy="429531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1A1D23"/>
        </a:solidFill>
        <a:effectLst/>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2A9D8F"/>
          </a:solidFill>
          <a:ln w="12700">
            <a:solidFill>
              <a:srgbClr val="2A9D8F"/>
            </a:solidFill>
            <a:prstDash val="solid"/>
          </a:ln>
        </p:spPr>
      </p:sp>
      <p:sp>
        <p:nvSpPr>
          <p:cNvPr id="4" name="Text 1"/>
          <p:cNvSpPr/>
          <p:nvPr/>
        </p:nvSpPr>
        <p:spPr>
          <a:xfrm>
            <a:off x="640080" y="1188720"/>
            <a:ext cx="1188720" cy="292608"/>
          </a:xfrm>
          <a:prstGeom prst="rect">
            <a:avLst/>
          </a:prstGeom>
          <a:solidFill>
            <a:srgbClr val="2A9D8F"/>
          </a:solid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TIPS</a:t>
            </a:r>
            <a:endParaRPr lang="en-US" sz="1000" dirty="0"/>
          </a:p>
        </p:txBody>
      </p:sp>
      <p:sp>
        <p:nvSpPr>
          <p:cNvPr id="5" name="Text 2"/>
          <p:cNvSpPr/>
          <p:nvPr/>
        </p:nvSpPr>
        <p:spPr>
          <a:xfrm>
            <a:off x="640080" y="1645920"/>
            <a:ext cx="7863840" cy="10972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Working with data</a:t>
            </a:r>
            <a:endParaRPr lang="en-US" sz="3600" dirty="0"/>
          </a:p>
        </p:txBody>
      </p:sp>
      <p:sp>
        <p:nvSpPr>
          <p:cNvPr id="6" name="Text 3"/>
          <p:cNvSpPr/>
          <p:nvPr/>
        </p:nvSpPr>
        <p:spPr>
          <a:xfrm>
            <a:off x="640080" y="4206240"/>
            <a:ext cx="4572000" cy="320040"/>
          </a:xfrm>
          <a:prstGeom prst="rect">
            <a:avLst/>
          </a:prstGeom>
          <a:noFill/>
          <a:ln/>
        </p:spPr>
        <p:txBody>
          <a:bodyPr wrap="square" lIns="0" tIns="0" rIns="0" bIns="0" rtlCol="0" anchor="ctr"/>
          <a:lstStyle/>
          <a:p>
            <a:pPr marL="0" indent="0">
              <a:buNone/>
            </a:pPr>
            <a:r>
              <a:rPr lang="en-US" sz="1000" i="1" dirty="0">
                <a:solidFill>
                  <a:srgbClr val="5A606B"/>
                </a:solidFill>
                <a:latin typeface="Calibri" pitchFamily="34" charset="0"/>
                <a:ea typeface="Calibri" pitchFamily="34" charset="-122"/>
                <a:cs typeface="Calibri" pitchFamily="34" charset="-120"/>
              </a:rPr>
              <a:t>Speaker points in notes</a:t>
            </a:r>
            <a:endParaRPr lang="en-US" sz="1000" dirty="0"/>
          </a:p>
        </p:txBody>
      </p:sp>
      <p:sp>
        <p:nvSpPr>
          <p:cNvPr id="7" name="Text 4"/>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V28</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scheduled round</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V28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Automation: the scheduled round</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Same route, every time, on schedule</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You check the report, not every drop</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53</a:t>
            </a:r>
            <a:endParaRPr lang="en-US" sz="900" dirty="0"/>
          </a:p>
        </p:txBody>
      </p:sp>
      <p:pic>
        <p:nvPicPr>
          <p:cNvPr id="2" name="Picture 1">
            <a:extLst>
              <a:ext uri="{FF2B5EF4-FFF2-40B4-BE49-F238E27FC236}">
                <a16:creationId xmlns:a16="http://schemas.microsoft.com/office/drawing/2014/main" id="{C134011E-1DE8-834D-2FE5-DD48AA353D46}"/>
              </a:ext>
            </a:extLst>
          </p:cNvPr>
          <p:cNvPicPr>
            <a:picLocks noChangeAspect="1"/>
          </p:cNvPicPr>
          <p:nvPr/>
        </p:nvPicPr>
        <p:blipFill>
          <a:blip r:embed="rId3"/>
          <a:srcRect l="189" r="-17" b="10177"/>
          <a:stretch>
            <a:fillRect/>
          </a:stretch>
        </p:blipFill>
        <p:spPr>
          <a:xfrm>
            <a:off x="4111809" y="366889"/>
            <a:ext cx="4761368" cy="429683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22262E"/>
        </a:solidFill>
        <a:effectLst/>
      </p:bgPr>
    </p:bg>
    <p:spTree>
      <p:nvGrpSpPr>
        <p:cNvPr id="1" name=""/>
        <p:cNvGrpSpPr/>
        <p:nvPr/>
      </p:nvGrpSpPr>
      <p:grpSpPr>
        <a:xfrm>
          <a:off x="0" y="0"/>
          <a:ext cx="0" cy="0"/>
          <a:chOff x="0" y="0"/>
          <a:chExt cx="0" cy="0"/>
        </a:xfrm>
      </p:grpSpPr>
      <p:sp>
        <p:nvSpPr>
          <p:cNvPr id="3" name="Text 0"/>
          <p:cNvSpPr/>
          <p:nvPr/>
        </p:nvSpPr>
        <p:spPr>
          <a:xfrm>
            <a:off x="640080" y="1463040"/>
            <a:ext cx="7863840" cy="1097280"/>
          </a:xfrm>
          <a:prstGeom prst="rect">
            <a:avLst/>
          </a:prstGeom>
          <a:noFill/>
          <a:ln/>
        </p:spPr>
        <p:txBody>
          <a:bodyPr wrap="square" lIns="0" tIns="0" rIns="0" bIns="0" rtlCol="0" anchor="ctr"/>
          <a:lstStyle/>
          <a:p>
            <a:pPr marL="0" indent="0">
              <a:buNone/>
            </a:pPr>
            <a:r>
              <a:rPr lang="en-US" sz="4000" b="1" dirty="0">
                <a:solidFill>
                  <a:srgbClr val="F5B700"/>
                </a:solidFill>
                <a:latin typeface="Trebuchet MS" pitchFamily="34" charset="0"/>
                <a:ea typeface="Trebuchet MS" pitchFamily="34" charset="-122"/>
                <a:cs typeface="Trebuchet MS" pitchFamily="34" charset="-120"/>
              </a:rPr>
              <a:t>Which vehicle do you get into?</a:t>
            </a:r>
            <a:endParaRPr lang="en-US" sz="4000" dirty="0"/>
          </a:p>
        </p:txBody>
      </p:sp>
      <p:sp>
        <p:nvSpPr>
          <p:cNvPr id="4" name="Text 1"/>
          <p:cNvSpPr/>
          <p:nvPr/>
        </p:nvSpPr>
        <p:spPr>
          <a:xfrm>
            <a:off x="640080" y="2606040"/>
            <a:ext cx="7863840" cy="64008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Security is about the vehicle, not only the luggage</a:t>
            </a:r>
            <a:endParaRPr lang="en-US" sz="2000" dirty="0"/>
          </a:p>
        </p:txBody>
      </p:sp>
      <p:sp>
        <p:nvSpPr>
          <p:cNvPr id="5" name="Shape 2"/>
          <p:cNvSpPr/>
          <p:nvPr/>
        </p:nvSpPr>
        <p:spPr>
          <a:xfrm>
            <a:off x="365760" y="4873752"/>
            <a:ext cx="8412480" cy="0"/>
          </a:xfrm>
          <a:prstGeom prst="line">
            <a:avLst/>
          </a:prstGeom>
          <a:noFill/>
          <a:ln w="25400">
            <a:solidFill>
              <a:srgbClr val="F5B700"/>
            </a:solidFill>
            <a:prstDash val="dash"/>
          </a:ln>
        </p:spPr>
      </p:sp>
      <p:sp>
        <p:nvSpPr>
          <p:cNvPr id="6" name="Text 3"/>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V29</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bus</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V29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bus</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Public. Everyone hears you. The operator keeps the recordings.</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55</a:t>
            </a:r>
            <a:endParaRPr lang="en-US" sz="900" dirty="0"/>
          </a:p>
        </p:txBody>
      </p:sp>
      <p:pic>
        <p:nvPicPr>
          <p:cNvPr id="2" name="Picture 1">
            <a:extLst>
              <a:ext uri="{FF2B5EF4-FFF2-40B4-BE49-F238E27FC236}">
                <a16:creationId xmlns:a16="http://schemas.microsoft.com/office/drawing/2014/main" id="{5C80C52E-29CA-98B2-B7DD-018E9FE176B8}"/>
              </a:ext>
            </a:extLst>
          </p:cNvPr>
          <p:cNvPicPr>
            <a:picLocks noChangeAspect="1"/>
          </p:cNvPicPr>
          <p:nvPr/>
        </p:nvPicPr>
        <p:blipFill>
          <a:blip r:embed="rId3"/>
          <a:srcRect l="-262" t="6606" r="262" b="14378"/>
          <a:stretch>
            <a:fillRect/>
          </a:stretch>
        </p:blipFill>
        <p:spPr>
          <a:xfrm>
            <a:off x="365162" y="366889"/>
            <a:ext cx="5390455" cy="430947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V30</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taxi</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V30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taxi</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Private ride, but on the taxi firm's terms. Privacy only if you flip the switch.</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56</a:t>
            </a:r>
            <a:endParaRPr lang="en-US" sz="900" dirty="0"/>
          </a:p>
        </p:txBody>
      </p:sp>
      <p:pic>
        <p:nvPicPr>
          <p:cNvPr id="2" name="Picture 1">
            <a:extLst>
              <a:ext uri="{FF2B5EF4-FFF2-40B4-BE49-F238E27FC236}">
                <a16:creationId xmlns:a16="http://schemas.microsoft.com/office/drawing/2014/main" id="{DAFF51C6-9837-560E-5E55-780DFF674279}"/>
              </a:ext>
            </a:extLst>
          </p:cNvPr>
          <p:cNvPicPr>
            <a:picLocks noChangeAspect="1"/>
          </p:cNvPicPr>
          <p:nvPr/>
        </p:nvPicPr>
        <p:blipFill>
          <a:blip r:embed="rId3"/>
          <a:srcRect l="127" b="22579"/>
          <a:stretch>
            <a:fillRect/>
          </a:stretch>
        </p:blipFill>
        <p:spPr>
          <a:xfrm>
            <a:off x="292806" y="366889"/>
            <a:ext cx="5552722" cy="4304441"/>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V31</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corporate limousine</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V31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corporate limousine</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Confidentiality is part of the contract.</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57</a:t>
            </a:r>
            <a:endParaRPr lang="en-US" sz="900" dirty="0"/>
          </a:p>
        </p:txBody>
      </p:sp>
      <p:pic>
        <p:nvPicPr>
          <p:cNvPr id="2" name="Picture 1">
            <a:extLst>
              <a:ext uri="{FF2B5EF4-FFF2-40B4-BE49-F238E27FC236}">
                <a16:creationId xmlns:a16="http://schemas.microsoft.com/office/drawing/2014/main" id="{00C858AA-A51E-FEBB-99EB-B111CA9F4E0A}"/>
              </a:ext>
            </a:extLst>
          </p:cNvPr>
          <p:cNvPicPr>
            <a:picLocks noChangeAspect="1"/>
          </p:cNvPicPr>
          <p:nvPr/>
        </p:nvPicPr>
        <p:blipFill>
          <a:blip r:embed="rId3"/>
          <a:srcRect l="33" b="21532"/>
          <a:stretch>
            <a:fillRect/>
          </a:stretch>
        </p:blipFill>
        <p:spPr>
          <a:xfrm>
            <a:off x="365162" y="366889"/>
            <a:ext cx="5473316" cy="4296189"/>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365760" y="365760"/>
            <a:ext cx="539496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365760" y="365760"/>
            <a:ext cx="539496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V32</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private driver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V32 (see Visual Prompts doc)</a:t>
            </a:r>
            <a:endParaRPr lang="en-US" sz="2800" dirty="0"/>
          </a:p>
        </p:txBody>
      </p:sp>
      <p:sp>
        <p:nvSpPr>
          <p:cNvPr id="5" name="Text 2"/>
          <p:cNvSpPr/>
          <p:nvPr/>
        </p:nvSpPr>
        <p:spPr>
          <a:xfrm>
            <a:off x="6035040" y="640080"/>
            <a:ext cx="1188720" cy="292608"/>
          </a:xfrm>
          <a:prstGeom prst="rect">
            <a:avLst/>
          </a:prstGeom>
          <a:solidFill>
            <a:srgbClr val="F5B700"/>
          </a:solidFill>
          <a:ln/>
        </p:spPr>
        <p:txBody>
          <a:bodyPr wrap="square" lIns="0" tIns="0" rIns="0" bIns="0" rtlCol="0" anchor="ctr"/>
          <a:lstStyle/>
          <a:p>
            <a:pPr marL="0" indent="0" algn="ctr">
              <a:buNone/>
            </a:pPr>
            <a:r>
              <a:rPr lang="en-US" sz="1000" b="1" kern="0" spc="200" dirty="0">
                <a:solidFill>
                  <a:srgbClr val="22262E"/>
                </a:solidFill>
                <a:latin typeface="Calibri" pitchFamily="34" charset="0"/>
                <a:ea typeface="Calibri" pitchFamily="34" charset="-122"/>
                <a:cs typeface="Calibri" pitchFamily="34" charset="-120"/>
              </a:rPr>
              <a:t>CARS 101</a:t>
            </a:r>
            <a:endParaRPr lang="en-US" sz="1000" dirty="0"/>
          </a:p>
        </p:txBody>
      </p:sp>
      <p:sp>
        <p:nvSpPr>
          <p:cNvPr id="6" name="Text 3"/>
          <p:cNvSpPr/>
          <p:nvPr/>
        </p:nvSpPr>
        <p:spPr>
          <a:xfrm>
            <a:off x="6035040" y="1097280"/>
            <a:ext cx="2743200" cy="1463040"/>
          </a:xfrm>
          <a:prstGeom prst="rect">
            <a:avLst/>
          </a:prstGeom>
          <a:noFill/>
          <a:ln/>
        </p:spPr>
        <p:txBody>
          <a:bodyPr wrap="square" lIns="0" tIns="0" rIns="0" bIns="0" rtlCol="0" anchor="t"/>
          <a:lstStyle/>
          <a:p>
            <a:pPr marL="0" indent="0">
              <a:buNone/>
            </a:pPr>
            <a:r>
              <a:rPr lang="en-US" sz="2400" b="1" dirty="0">
                <a:solidFill>
                  <a:srgbClr val="22262E"/>
                </a:solidFill>
                <a:latin typeface="Trebuchet MS" pitchFamily="34" charset="0"/>
                <a:ea typeface="Trebuchet MS" pitchFamily="34" charset="-122"/>
                <a:cs typeface="Trebuchet MS" pitchFamily="34" charset="-120"/>
              </a:rPr>
              <a:t>The private driver</a:t>
            </a:r>
            <a:endParaRPr lang="en-US" sz="2400" dirty="0"/>
          </a:p>
        </p:txBody>
      </p:sp>
      <p:sp>
        <p:nvSpPr>
          <p:cNvPr id="7" name="Text 4"/>
          <p:cNvSpPr/>
          <p:nvPr/>
        </p:nvSpPr>
        <p:spPr>
          <a:xfrm>
            <a:off x="6035040" y="2743200"/>
            <a:ext cx="2743200" cy="1828800"/>
          </a:xfrm>
          <a:prstGeom prst="rect">
            <a:avLst/>
          </a:prstGeom>
          <a:noFill/>
          <a:ln/>
        </p:spPr>
        <p:txBody>
          <a:bodyPr wrap="square" lIns="0" tIns="0" rIns="0" bIns="0" rtlCol="0" anchor="t"/>
          <a:lstStyle/>
          <a:p>
            <a:pPr marL="0" indent="0">
              <a:buNone/>
            </a:pPr>
            <a:r>
              <a:rPr lang="en-US" sz="1500" dirty="0">
                <a:solidFill>
                  <a:srgbClr val="4A4F57"/>
                </a:solidFill>
                <a:latin typeface="Calibri" pitchFamily="34" charset="0"/>
                <a:ea typeface="Calibri" pitchFamily="34" charset="-122"/>
                <a:cs typeface="Calibri" pitchFamily="34" charset="-120"/>
              </a:rPr>
              <a:t>Your car, your garage, your keys. Only as safe as your locks.</a:t>
            </a:r>
            <a:endParaRPr lang="en-US" sz="1500" dirty="0"/>
          </a:p>
        </p:txBody>
      </p:sp>
      <p:sp>
        <p:nvSpPr>
          <p:cNvPr id="8" name="Shape 5"/>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58</a:t>
            </a:r>
            <a:endParaRPr lang="en-US" sz="900" dirty="0"/>
          </a:p>
        </p:txBody>
      </p:sp>
      <p:pic>
        <p:nvPicPr>
          <p:cNvPr id="2" name="Picture 1">
            <a:extLst>
              <a:ext uri="{FF2B5EF4-FFF2-40B4-BE49-F238E27FC236}">
                <a16:creationId xmlns:a16="http://schemas.microsoft.com/office/drawing/2014/main" id="{812CFDF2-5B5E-2D0D-12B0-F898781A27FA}"/>
              </a:ext>
            </a:extLst>
          </p:cNvPr>
          <p:cNvPicPr>
            <a:picLocks noChangeAspect="1"/>
          </p:cNvPicPr>
          <p:nvPr/>
        </p:nvPicPr>
        <p:blipFill>
          <a:blip r:embed="rId3"/>
          <a:srcRect l="33" t="6830" b="14676"/>
          <a:stretch>
            <a:fillRect/>
          </a:stretch>
        </p:blipFill>
        <p:spPr>
          <a:xfrm>
            <a:off x="365162" y="366889"/>
            <a:ext cx="5473316" cy="4297667"/>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V33</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The transport ladder</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V33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The AI transport ladder</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Bus = free ChatGPT and similar</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Taxi = personal paid subscriptions</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Limo = M365 Copilot, Elissa</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Private driver = self-hosted model</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59</a:t>
            </a:r>
            <a:endParaRPr lang="en-US" sz="900" dirty="0"/>
          </a:p>
        </p:txBody>
      </p:sp>
      <p:pic>
        <p:nvPicPr>
          <p:cNvPr id="2" name="Picture 1">
            <a:extLst>
              <a:ext uri="{FF2B5EF4-FFF2-40B4-BE49-F238E27FC236}">
                <a16:creationId xmlns:a16="http://schemas.microsoft.com/office/drawing/2014/main" id="{54DA586C-DBED-BCC1-BAC1-D7D36D9A0BAC}"/>
              </a:ext>
            </a:extLst>
          </p:cNvPr>
          <p:cNvPicPr>
            <a:picLocks noChangeAspect="1"/>
          </p:cNvPicPr>
          <p:nvPr/>
        </p:nvPicPr>
        <p:blipFill>
          <a:blip r:embed="rId3"/>
          <a:srcRect r="-38" b="9934"/>
          <a:stretch>
            <a:fillRect/>
          </a:stretch>
        </p:blipFill>
        <p:spPr>
          <a:xfrm>
            <a:off x="4025194" y="366889"/>
            <a:ext cx="4750193" cy="429574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4114800" y="365760"/>
            <a:ext cx="4663440" cy="4297680"/>
          </a:xfrm>
          <a:prstGeom prst="rect">
            <a:avLst/>
          </a:prstGeom>
          <a:solidFill>
            <a:srgbClr val="ECE9DF"/>
          </a:solidFill>
          <a:ln w="15875">
            <a:solidFill>
              <a:srgbClr val="B8B3A3"/>
            </a:solidFill>
            <a:prstDash val="dash"/>
          </a:ln>
        </p:spPr>
        <p:txBody>
          <a:bodyPr/>
          <a:lstStyle/>
          <a:p>
            <a:endParaRPr lang="en-GB"/>
          </a:p>
        </p:txBody>
      </p:sp>
      <p:sp>
        <p:nvSpPr>
          <p:cNvPr id="4" name="Text 1"/>
          <p:cNvSpPr/>
          <p:nvPr/>
        </p:nvSpPr>
        <p:spPr>
          <a:xfrm>
            <a:off x="4114800" y="365760"/>
            <a:ext cx="4663440" cy="4297680"/>
          </a:xfrm>
          <a:prstGeom prst="rect">
            <a:avLst/>
          </a:prstGeom>
          <a:noFill/>
          <a:ln/>
        </p:spPr>
        <p:txBody>
          <a:bodyPr wrap="square" rtlCol="0" anchor="ctr"/>
          <a:lstStyle/>
          <a:p>
            <a:pPr marL="0" indent="0" algn="ctr">
              <a:buNone/>
            </a:pPr>
            <a:r>
              <a:rPr lang="en-US" sz="2800" b="1" dirty="0">
                <a:solidFill>
                  <a:srgbClr val="9A937E"/>
                </a:solidFill>
                <a:latin typeface="Trebuchet MS" pitchFamily="34" charset="0"/>
                <a:ea typeface="Trebuchet MS" pitchFamily="34" charset="-122"/>
                <a:cs typeface="Trebuchet MS" pitchFamily="34" charset="-120"/>
              </a:rPr>
              <a:t>V34</a:t>
            </a:r>
            <a:endParaRPr lang="en-US" sz="2800" dirty="0"/>
          </a:p>
          <a:p>
            <a:pPr marL="0" indent="0" algn="ctr">
              <a:buNone/>
            </a:pPr>
            <a:r>
              <a:rPr lang="en-US" sz="1300" dirty="0">
                <a:solidFill>
                  <a:srgbClr val="6B6656"/>
                </a:solidFill>
                <a:latin typeface="Calibri" pitchFamily="34" charset="0"/>
                <a:ea typeface="Calibri" pitchFamily="34" charset="-122"/>
                <a:cs typeface="Calibri" pitchFamily="34" charset="-120"/>
              </a:rPr>
              <a:t>Fleet operator and garage</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V34 (see Visual Prompts doc)</a:t>
            </a:r>
            <a:endParaRPr lang="en-US" sz="2800" dirty="0"/>
          </a:p>
        </p:txBody>
      </p:sp>
      <p:sp>
        <p:nvSpPr>
          <p:cNvPr id="5" name="Text 2"/>
          <p:cNvSpPr/>
          <p:nvPr/>
        </p:nvSpPr>
        <p:spPr>
          <a:xfrm>
            <a:off x="457200" y="457200"/>
            <a:ext cx="3474720" cy="1280160"/>
          </a:xfrm>
          <a:prstGeom prst="rect">
            <a:avLst/>
          </a:prstGeom>
          <a:noFill/>
          <a:ln/>
        </p:spPr>
        <p:txBody>
          <a:bodyPr wrap="square" lIns="0" tIns="0" rIns="0" bIns="0" rtlCol="0" anchor="t"/>
          <a:lstStyle/>
          <a:p>
            <a:pPr marL="0" indent="0">
              <a:buNone/>
            </a:pPr>
            <a:r>
              <a:rPr lang="en-US" sz="2600" b="1" dirty="0">
                <a:solidFill>
                  <a:srgbClr val="22262E"/>
                </a:solidFill>
                <a:latin typeface="Trebuchet MS" pitchFamily="34" charset="0"/>
                <a:ea typeface="Trebuchet MS" pitchFamily="34" charset="-122"/>
                <a:cs typeface="Trebuchet MS" pitchFamily="34" charset="-120"/>
              </a:rPr>
              <a:t>EQ Enterprise AI: fleet operator and garage</a:t>
            </a:r>
            <a:endParaRPr lang="en-US" sz="2600" dirty="0"/>
          </a:p>
        </p:txBody>
      </p:sp>
      <p:sp>
        <p:nvSpPr>
          <p:cNvPr id="6" name="Text 3"/>
          <p:cNvSpPr/>
          <p:nvPr/>
        </p:nvSpPr>
        <p:spPr>
          <a:xfrm>
            <a:off x="457200" y="182880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We enable building and maintain the vehicles</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We step in to build complex workflows and automations</a:t>
            </a:r>
            <a:endParaRPr lang="en-US" sz="1500" dirty="0"/>
          </a:p>
          <a:p>
            <a:pPr marL="342900" indent="-342900">
              <a:spcAft>
                <a:spcPts val="800"/>
              </a:spcAft>
              <a:buSzPct val="100000"/>
              <a:buChar char="•"/>
            </a:pPr>
            <a:r>
              <a:rPr lang="en-US" sz="1500" dirty="0">
                <a:solidFill>
                  <a:srgbClr val="3A3F47"/>
                </a:solidFill>
                <a:latin typeface="Calibri" pitchFamily="34" charset="0"/>
                <a:ea typeface="Calibri" pitchFamily="34" charset="-122"/>
                <a:cs typeface="Calibri" pitchFamily="34" charset="-120"/>
              </a:rPr>
              <a:t>You bring the routes and sign for the deliveries</a:t>
            </a:r>
            <a:endParaRPr lang="en-US" sz="1500" dirty="0"/>
          </a:p>
        </p:txBody>
      </p:sp>
      <p:sp>
        <p:nvSpPr>
          <p:cNvPr id="7" name="Shape 4"/>
          <p:cNvSpPr/>
          <p:nvPr/>
        </p:nvSpPr>
        <p:spPr>
          <a:xfrm>
            <a:off x="365760" y="4873752"/>
            <a:ext cx="8412480" cy="0"/>
          </a:xfrm>
          <a:prstGeom prst="line">
            <a:avLst/>
          </a:prstGeom>
          <a:noFill/>
          <a:ln w="25400">
            <a:solidFill>
              <a:srgbClr val="D9D4C3"/>
            </a:solidFill>
            <a:prstDash val="dash"/>
          </a:ln>
        </p:spPr>
        <p:txBody>
          <a:bodyPr/>
          <a:lstStyle/>
          <a:p>
            <a:endParaRPr lang="en-GB"/>
          </a:p>
        </p:txBody>
      </p:sp>
      <p:sp>
        <p:nvSpPr>
          <p:cNvPr id="8" name="Text 5"/>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60</a:t>
            </a:r>
            <a:endParaRPr lang="en-US" sz="900" dirty="0"/>
          </a:p>
        </p:txBody>
      </p:sp>
      <p:pic>
        <p:nvPicPr>
          <p:cNvPr id="2" name="Picture 1">
            <a:extLst>
              <a:ext uri="{FF2B5EF4-FFF2-40B4-BE49-F238E27FC236}">
                <a16:creationId xmlns:a16="http://schemas.microsoft.com/office/drawing/2014/main" id="{9BE51687-3AEE-BA0C-E819-A3F0AFAFDCE3}"/>
              </a:ext>
            </a:extLst>
          </p:cNvPr>
          <p:cNvPicPr>
            <a:picLocks noChangeAspect="1"/>
          </p:cNvPicPr>
          <p:nvPr/>
        </p:nvPicPr>
        <p:blipFill>
          <a:blip r:embed="rId3"/>
          <a:srcRect l="-34" r="-4" b="5071"/>
          <a:stretch>
            <a:fillRect/>
          </a:stretch>
        </p:blipFill>
        <p:spPr>
          <a:xfrm>
            <a:off x="4115328" y="366889"/>
            <a:ext cx="4665485" cy="4413826"/>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22262E"/>
        </a:solidFill>
        <a:effectLst/>
      </p:bgPr>
    </p:bg>
    <p:spTree>
      <p:nvGrpSpPr>
        <p:cNvPr id="1" name=""/>
        <p:cNvGrpSpPr/>
        <p:nvPr/>
      </p:nvGrpSpPr>
      <p:grpSpPr>
        <a:xfrm>
          <a:off x="0" y="0"/>
          <a:ext cx="0" cy="0"/>
          <a:chOff x="0" y="0"/>
          <a:chExt cx="0" cy="0"/>
        </a:xfrm>
      </p:grpSpPr>
      <p:sp>
        <p:nvSpPr>
          <p:cNvPr id="3" name="Shape 0"/>
          <p:cNvSpPr/>
          <p:nvPr/>
        </p:nvSpPr>
        <p:spPr>
          <a:xfrm>
            <a:off x="4663440" y="365760"/>
            <a:ext cx="4114800" cy="4206240"/>
          </a:xfrm>
          <a:prstGeom prst="rect">
            <a:avLst/>
          </a:prstGeom>
          <a:solidFill>
            <a:srgbClr val="2F343E"/>
          </a:solidFill>
          <a:ln w="15875">
            <a:solidFill>
              <a:srgbClr val="5A606B"/>
            </a:solidFill>
            <a:prstDash val="dash"/>
          </a:ln>
        </p:spPr>
        <p:txBody>
          <a:bodyPr/>
          <a:lstStyle/>
          <a:p>
            <a:endParaRPr lang="en-GB"/>
          </a:p>
        </p:txBody>
      </p:sp>
      <p:sp>
        <p:nvSpPr>
          <p:cNvPr id="4" name="Text 1"/>
          <p:cNvSpPr/>
          <p:nvPr/>
        </p:nvSpPr>
        <p:spPr>
          <a:xfrm>
            <a:off x="4663440" y="365760"/>
            <a:ext cx="4114800" cy="4206240"/>
          </a:xfrm>
          <a:prstGeom prst="rect">
            <a:avLst/>
          </a:prstGeom>
          <a:noFill/>
          <a:ln/>
        </p:spPr>
        <p:txBody>
          <a:bodyPr wrap="square" rtlCol="0" anchor="ctr"/>
          <a:lstStyle/>
          <a:p>
            <a:pPr marL="0" indent="0" algn="ctr">
              <a:buNone/>
            </a:pPr>
            <a:r>
              <a:rPr lang="en-US" sz="2800" b="1" dirty="0">
                <a:solidFill>
                  <a:srgbClr val="F5B700"/>
                </a:solidFill>
                <a:latin typeface="Trebuchet MS" pitchFamily="34" charset="0"/>
                <a:ea typeface="Trebuchet MS" pitchFamily="34" charset="-122"/>
                <a:cs typeface="Trebuchet MS" pitchFamily="34" charset="-120"/>
              </a:rPr>
              <a:t>V35</a:t>
            </a:r>
            <a:endParaRPr lang="en-US" sz="2800" dirty="0"/>
          </a:p>
          <a:p>
            <a:pPr marL="0" indent="0" algn="ctr">
              <a:buNone/>
            </a:pPr>
            <a:r>
              <a:rPr lang="en-US" sz="1300" dirty="0">
                <a:solidFill>
                  <a:srgbClr val="C9CCD2"/>
                </a:solidFill>
                <a:latin typeface="Calibri" pitchFamily="34" charset="0"/>
                <a:ea typeface="Calibri" pitchFamily="34" charset="-122"/>
                <a:cs typeface="Calibri" pitchFamily="34" charset="-120"/>
              </a:rPr>
              <a:t>Closing: the open road</a:t>
            </a:r>
            <a:endParaRPr lang="en-US" sz="2800" dirty="0"/>
          </a:p>
          <a:p>
            <a:pPr marL="0" indent="0" algn="ctr">
              <a:buNone/>
            </a:pPr>
            <a:r>
              <a:rPr lang="en-US" sz="1000" i="1" dirty="0">
                <a:solidFill>
                  <a:srgbClr val="8A8F98"/>
                </a:solidFill>
                <a:latin typeface="Calibri" pitchFamily="34" charset="0"/>
                <a:ea typeface="Calibri" pitchFamily="34" charset="-122"/>
                <a:cs typeface="Calibri" pitchFamily="34" charset="-120"/>
              </a:rPr>
              <a:t>Insert image V35 (see Visual Prompts doc)</a:t>
            </a:r>
            <a:endParaRPr lang="en-US" sz="2800" dirty="0"/>
          </a:p>
        </p:txBody>
      </p:sp>
      <p:sp>
        <p:nvSpPr>
          <p:cNvPr id="5" name="Text 2"/>
          <p:cNvSpPr/>
          <p:nvPr/>
        </p:nvSpPr>
        <p:spPr>
          <a:xfrm>
            <a:off x="457200" y="1188720"/>
            <a:ext cx="40233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Questions?</a:t>
            </a:r>
            <a:endParaRPr lang="en-US" sz="4000" dirty="0"/>
          </a:p>
        </p:txBody>
      </p:sp>
      <p:sp>
        <p:nvSpPr>
          <p:cNvPr id="6" name="Text 3"/>
          <p:cNvSpPr/>
          <p:nvPr/>
        </p:nvSpPr>
        <p:spPr>
          <a:xfrm>
            <a:off x="457200" y="2331720"/>
            <a:ext cx="4023360" cy="822960"/>
          </a:xfrm>
          <a:prstGeom prst="rect">
            <a:avLst/>
          </a:prstGeom>
          <a:noFill/>
          <a:ln/>
        </p:spPr>
        <p:txBody>
          <a:bodyPr wrap="square" lIns="0" tIns="0" rIns="0" bIns="0" rtlCol="0" anchor="ctr"/>
          <a:lstStyle/>
          <a:p>
            <a:pPr marL="0" indent="0">
              <a:buNone/>
            </a:pPr>
            <a:r>
              <a:rPr lang="en-US" sz="1800" dirty="0">
                <a:solidFill>
                  <a:srgbClr val="F5B700"/>
                </a:solidFill>
                <a:latin typeface="Calibri" pitchFamily="34" charset="0"/>
                <a:ea typeface="Calibri" pitchFamily="34" charset="-122"/>
                <a:cs typeface="Calibri" pitchFamily="34" charset="-120"/>
              </a:rPr>
              <a:t>Engine. Car. Driver. Directions.</a:t>
            </a:r>
            <a:endParaRPr lang="en-US" sz="1800" dirty="0"/>
          </a:p>
        </p:txBody>
      </p:sp>
      <p:sp>
        <p:nvSpPr>
          <p:cNvPr id="7" name="Text 4"/>
          <p:cNvSpPr/>
          <p:nvPr/>
        </p:nvSpPr>
        <p:spPr>
          <a:xfrm>
            <a:off x="457200" y="4114800"/>
            <a:ext cx="4023360" cy="365760"/>
          </a:xfrm>
          <a:prstGeom prst="rect">
            <a:avLst/>
          </a:prstGeom>
          <a:noFill/>
          <a:ln/>
        </p:spPr>
        <p:txBody>
          <a:bodyPr wrap="square" lIns="0" tIns="0" rIns="0" bIns="0" rtlCol="0" anchor="ctr"/>
          <a:lstStyle/>
          <a:p>
            <a:pPr marL="0" indent="0">
              <a:buNone/>
            </a:pPr>
            <a:r>
              <a:rPr lang="en-US" sz="1100" dirty="0">
                <a:solidFill>
                  <a:srgbClr val="8A8F98"/>
                </a:solidFill>
                <a:latin typeface="Calibri" pitchFamily="34" charset="0"/>
                <a:ea typeface="Calibri" pitchFamily="34" charset="-122"/>
                <a:cs typeface="Calibri" pitchFamily="34" charset="-120"/>
              </a:rPr>
              <a:t>EQ Enterprise AI</a:t>
            </a:r>
            <a:endParaRPr lang="en-US" sz="1100" dirty="0"/>
          </a:p>
        </p:txBody>
      </p:sp>
      <p:sp>
        <p:nvSpPr>
          <p:cNvPr id="8" name="Shape 5"/>
          <p:cNvSpPr/>
          <p:nvPr/>
        </p:nvSpPr>
        <p:spPr>
          <a:xfrm>
            <a:off x="365760" y="4873752"/>
            <a:ext cx="8412480" cy="0"/>
          </a:xfrm>
          <a:prstGeom prst="line">
            <a:avLst/>
          </a:prstGeom>
          <a:noFill/>
          <a:ln w="25400">
            <a:solidFill>
              <a:srgbClr val="F5B700"/>
            </a:solidFill>
            <a:prstDash val="dash"/>
          </a:ln>
        </p:spPr>
        <p:txBody>
          <a:bodyPr/>
          <a:lstStyle/>
          <a:p>
            <a:endParaRPr lang="en-GB"/>
          </a:p>
        </p:txBody>
      </p:sp>
      <p:sp>
        <p:nvSpPr>
          <p:cNvPr id="9" name="Text 6"/>
          <p:cNvSpPr/>
          <p:nvPr/>
        </p:nvSpPr>
        <p:spPr>
          <a:xfrm>
            <a:off x="8412480" y="4663440"/>
            <a:ext cx="457200" cy="274320"/>
          </a:xfrm>
          <a:prstGeom prst="rect">
            <a:avLst/>
          </a:prstGeom>
          <a:noFill/>
          <a:ln/>
        </p:spPr>
        <p:txBody>
          <a:bodyPr wrap="square" lIns="0" tIns="0" rIns="0" bIns="0" rtlCol="0" anchor="ctr"/>
          <a:lstStyle/>
          <a:p>
            <a:pPr marL="0" indent="0" algn="r">
              <a:buNone/>
            </a:pPr>
            <a:r>
              <a:rPr lang="en-US" sz="900" dirty="0">
                <a:solidFill>
                  <a:srgbClr val="8A8F98"/>
                </a:solidFill>
                <a:latin typeface="Calibri" pitchFamily="34" charset="0"/>
                <a:ea typeface="Calibri" pitchFamily="34" charset="-122"/>
                <a:cs typeface="Calibri" pitchFamily="34" charset="-120"/>
              </a:rPr>
              <a:t>61</a:t>
            </a:r>
            <a:endParaRPr lang="en-US" sz="900" dirty="0"/>
          </a:p>
        </p:txBody>
      </p:sp>
      <p:pic>
        <p:nvPicPr>
          <p:cNvPr id="2" name="Picture 1">
            <a:extLst>
              <a:ext uri="{FF2B5EF4-FFF2-40B4-BE49-F238E27FC236}">
                <a16:creationId xmlns:a16="http://schemas.microsoft.com/office/drawing/2014/main" id="{4AD7DE94-FC86-3038-3A0B-CE5353F1F7E6}"/>
              </a:ext>
            </a:extLst>
          </p:cNvPr>
          <p:cNvPicPr>
            <a:picLocks noChangeAspect="1"/>
          </p:cNvPicPr>
          <p:nvPr/>
        </p:nvPicPr>
        <p:blipFill>
          <a:blip r:embed="rId3"/>
          <a:stretch>
            <a:fillRect/>
          </a:stretch>
        </p:blipFill>
        <p:spPr>
          <a:xfrm>
            <a:off x="4568472" y="275167"/>
            <a:ext cx="4303890" cy="43038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61</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 the Bonnet – Procurement AI Training</dc:title>
  <dc:subject>PptxGenJS Presentation</dc:subject>
  <dc:creator>Kulpa, Arkadiusz</dc:creator>
  <cp:lastModifiedBy>Kulpa, Arkadiusz</cp:lastModifiedBy>
  <cp:revision>190</cp:revision>
  <dcterms:created xsi:type="dcterms:W3CDTF">2026-10-26T10:14:50Z</dcterms:created>
  <dcterms:modified xsi:type="dcterms:W3CDTF">2026-10-26T17:01:03Z</dcterms:modified>
</cp:coreProperties>
</file>